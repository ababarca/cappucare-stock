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920779FB-F6C6-0EE1-BB8F-8859FE2E62E4}">
          <p14:sldIdLst>
            <p14:sldId id="256"/>
          </p14:sldIdLst>
        </p14:section>
        <p14:section name="Contexto" id="{D503EAAF-1801-40DF-7744-C3330A40535F}">
          <p14:sldIdLst>
            <p14:sldId id="257"/>
            <p14:sldId id="258"/>
            <p14:sldId id="259"/>
          </p14:sldIdLst>
        </p14:section>
        <p14:section name="Solución" id="{B50DBF40-C358-C8C4-2FBA-CBCE2E32068F}">
          <p14:sldIdLst>
            <p14:sldId id="260"/>
            <p14:sldId id="261"/>
            <p14:sldId id="262"/>
            <p14:sldId id="263"/>
          </p14:sldIdLst>
        </p14:section>
        <p14:section name="Demo y cierre" id="{260E50CF-422C-CE5F-0D0D-ED19A4FE877B}">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499"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5801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somos [nombres]. Les presentamos Cappucare Stock, una app Android para una empresa que vende insumos médicos y necesita saber en todo momento cuántas unidades tiene de cada producto. Hoy les mostraremos el problema, cómo está armada la app y, en detalle, cómo funciona el registro de salidas y ventas (RF-05).</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Piensen en un almacén de barrio donde el cuaderno de anotaciones no se actualiza siempre: el dueño cree que tiene 10 guantes y en realidad quedan 2. Eso es lo que le pasa a Cappucare con sus insumos médicos. Nuestra app busca que cada entrada y cada venta quede anotada y que el stock se actualice solo.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lo que decidimos incluir y lo que dejamos fuera a propósito. El caso dice que es un prototipo académico, sin conexión a sistemas reales y solo con datos ficticios. Preferimos una app estable que cumple lo comprometido antes que muchas funciones a medias.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caso habla de 'personal encargado' y 'otros usuarios autorizados' pero no dice si tienen permisos distintos. Mientras el CITT responde, asumimos que el usuario autorizado solo consulta y registra movimientos, y que solo el encargado modifica el catálogo. Lo dejamos escrito como supuesto para poder ajustarlo.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MVVM separa la app en capas. La pantalla solo dibuja y pasa lo que el usuario escribe; el ViewModel tiene las reglas de negocio y el estado; los datos se guardan aparte. Hoy las dos primeras capas están hechas; el Repository y Room (las cajas con borde punteado) son la siguiente etapa. Por ahora los datos viven en memoria, con MockData.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flujo completo de una venta. El usuario elige el producto, marca Salida, elige el motivo y escribe la cantidad. Al tocar Registrar, la pantalla le pregunta al ViewModel si todo está bien (validar). Si hay errores, se muestran bajo cada campo. Si no, el ViewModel registra el movimiento, descuenta el stock y vuelve atrás. El responsable sale del usuario que inició sesión y la fecha se genera sola.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campo tiene su regla y su mensaje. Lo importante para la arquitectura: estas reglas están en el ViewModel, no dentro de los componentes visuales. Así la pantalla queda desacoplada y las reglas se pueden cambiar sin tocar el diseño. Además la comprobación de stock se repite dentro de registrarMovimiento(), porque la pantalla no es la única forma de llamar a esa función.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analogía: es como la caja de un negocio. Cada venta se anota y el contador baja solo; nadie corrige el número a mano. Si hay que corregir un error, se anota otro movimiento (por ejemplo un ajuste). Así el registro siempre cuadra con lo que realmente pasó, que es justamente el problema que tiene Cappucare.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Pasos para la demo: entrar con el usuario de prueba, abrir 'Registrar movimiento' y ejecutar estos cuatro casos en orden. Dos son casos felices y dos son errores, para mostrar que las validaciones funcionan. Tener la app abierta y corriendo antes de empezar.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Somos transparentes con el avance: lo implementado hoy es el módulo de movimientos. Lo que falta es principalmente la persistencia con Room, el recurso nativo y el resto de los requerimientos. Y lo que depende del CITT lo dejamos anotado como supuesto, tal como pide el documento de consultas pendientes.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ULO_OSCURO">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
        <p:nvSpPr>
          <p:cNvPr id="3" name="Text 1"/>
          <p:cNvSpPr>
            <a:spLocks noGrp="1"/>
          </p:cNvSpPr>
          <p:nvPr>
            <p:ph type="title" idx="101" hasCustomPrompt="1"/>
          </p:nvPr>
        </p:nvSpPr>
        <p:spPr>
          <a:xfrm>
            <a:off x="731520" y="1554480"/>
            <a:ext cx="6766560" cy="173736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4" name="Text 1"/>
          <p:cNvSpPr>
            <a:spLocks noGrp="1"/>
          </p:cNvSpPr>
          <p:nvPr>
            <p:ph type="body" idx="102" hasCustomPrompt="1"/>
          </p:nvPr>
        </p:nvSpPr>
        <p:spPr>
          <a:xfrm>
            <a:off x="731520" y="3520440"/>
            <a:ext cx="6766560" cy="237744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6"/>
                </a:solidFill>
              </a:rPr>
              <a:t>Cappucare Stock · DSY1105 · Evaluación Parcial 2</a:t>
            </a:r>
            <a:endParaRPr lang="en-US" sz="1000" dirty="0"/>
          </a:p>
        </p:txBody>
      </p:sp>
      <p:sp>
        <p:nvSpPr>
          <p:cNvPr id="3" name="Text 1"/>
          <p:cNvSpPr>
            <a:spLocks noGrp="1"/>
          </p:cNvSpPr>
          <p:nvPr>
            <p:ph type="title" idx="101" hasCustomPrompt="1"/>
          </p:nvPr>
        </p:nvSpPr>
        <p:spPr>
          <a:xfrm>
            <a:off x="548640" y="365760"/>
            <a:ext cx="11064240" cy="82296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731520" y="1554480"/>
            <a:ext cx="6766560" cy="1737360"/>
          </a:xfrm>
          <a:prstGeom prst="rect">
            <a:avLst/>
          </a:prstGeom>
          <a:noFill/>
          <a:ln/>
        </p:spPr>
        <p:txBody>
          <a:bodyPr wrap="square" lIns="0" tIns="0" rIns="0" bIns="0" rtlCol="0" anchor="b"/>
          <a:lstStyle/>
          <a:p>
            <a:pPr marL="0" indent="0" algn="l">
              <a:buNone/>
            </a:pPr>
            <a:r>
              <a:rPr lang="en-US" sz="4800" b="1" dirty="0">
                <a:solidFill>
                  <a:schemeClr val="bg1"/>
                </a:solidFill>
              </a:rPr>
              <a:t>Cappucare Stock</a:t>
            </a:r>
            <a:endParaRPr lang="en-US" sz="4800" dirty="0"/>
          </a:p>
        </p:txBody>
      </p:sp>
      <p:sp>
        <p:nvSpPr>
          <p:cNvPr id="3" name="Text 1"/>
          <p:cNvSpPr>
            <a:spLocks noGrp="1"/>
          </p:cNvSpPr>
          <p:nvPr>
            <p:ph type="body" idx="102" hasCustomPrompt="1"/>
          </p:nvPr>
        </p:nvSpPr>
        <p:spPr>
          <a:xfrm>
            <a:off x="731520" y="3520440"/>
            <a:ext cx="6766560" cy="2377440"/>
          </a:xfrm>
          <a:prstGeom prst="rect">
            <a:avLst/>
          </a:prstGeom>
          <a:noFill/>
          <a:ln/>
        </p:spPr>
        <p:txBody>
          <a:bodyPr wrap="square" lIns="0" tIns="0" rIns="0" bIns="0" rtlCol="0" anchor="t"/>
          <a:lstStyle/>
          <a:p>
            <a:pPr marL="0" indent="0">
              <a:buNone/>
            </a:pPr>
            <a:r>
              <a:rPr lang="en-US" sz="2400" b="1" dirty="0">
                <a:solidFill>
                  <a:schemeClr val="bg2"/>
                </a:solidFill>
              </a:rPr>
              <a:t>Control inteligente y oportuno de existencias</a:t>
            </a:r>
            <a:endParaRPr lang="en-US" sz="1800" dirty="0"/>
          </a:p>
          <a:p>
            <a:pPr marL="0" indent="0">
              <a:buNone/>
            </a:pPr>
            <a:r>
              <a:rPr lang="en-US" sz="1600" dirty="0">
                <a:solidFill>
                  <a:schemeClr val="bg2"/>
                </a:solidFill>
              </a:rPr>
              <a:t>DSY1105 · Desarrollo de Aplicaciones Móviles · Evaluación </a:t>
            </a:r>
            <a:r>
              <a:rPr lang="en-US" sz="1600" dirty="0" err="1">
                <a:solidFill>
                  <a:schemeClr val="bg2"/>
                </a:solidFill>
              </a:rPr>
              <a:t>Parcial</a:t>
            </a:r>
            <a:r>
              <a:rPr lang="en-US" sz="1600" dirty="0">
                <a:solidFill>
                  <a:schemeClr val="bg2"/>
                </a:solidFill>
              </a:rPr>
              <a:t> </a:t>
            </a:r>
            <a:r>
              <a:rPr lang="en-US" sz="1600" dirty="0" smtClean="0">
                <a:solidFill>
                  <a:schemeClr val="bg2"/>
                </a:solidFill>
              </a:rPr>
              <a:t>2</a:t>
            </a:r>
          </a:p>
          <a:p>
            <a:r>
              <a:rPr lang="en-US" sz="1600" dirty="0"/>
              <a:t>GitHub: https://github.com/AbAbarca/cappucare-stock.git</a:t>
            </a:r>
            <a:endParaRPr lang="en-US" sz="1800" dirty="0"/>
          </a:p>
          <a:p>
            <a:pPr marL="0" indent="0">
              <a:buNone/>
            </a:pPr>
            <a:r>
              <a:rPr lang="en-US" sz="800" dirty="0">
                <a:solidFill>
                  <a:schemeClr val="bg2"/>
                </a:solidFill>
              </a:rPr>
              <a:t> </a:t>
            </a:r>
            <a:endParaRPr lang="en-US" sz="1800" dirty="0"/>
          </a:p>
          <a:p>
            <a:pPr marL="0" indent="0">
              <a:buNone/>
            </a:pPr>
            <a:r>
              <a:rPr lang="en-US" sz="1800" dirty="0">
                <a:solidFill>
                  <a:schemeClr val="bg2"/>
                </a:solidFill>
              </a:rPr>
              <a:t>Integrantes: Absalom Abarca </a:t>
            </a:r>
            <a:r>
              <a:rPr lang="en-US" sz="1800" dirty="0" smtClean="0">
                <a:solidFill>
                  <a:schemeClr val="bg2"/>
                </a:solidFill>
              </a:rPr>
              <a:t> </a:t>
            </a:r>
            <a:r>
              <a:rPr lang="en-US" sz="1800" dirty="0">
                <a:solidFill>
                  <a:schemeClr val="bg2"/>
                </a:solidFill>
              </a:rPr>
              <a:t>· </a:t>
            </a:r>
            <a:r>
              <a:rPr lang="en-US" sz="1800" dirty="0" smtClean="0">
                <a:solidFill>
                  <a:schemeClr val="bg2"/>
                </a:solidFill>
              </a:rPr>
              <a:t>Daniel </a:t>
            </a:r>
            <a:r>
              <a:rPr lang="en-US" sz="1800" dirty="0" err="1" smtClean="0">
                <a:solidFill>
                  <a:schemeClr val="bg2"/>
                </a:solidFill>
              </a:rPr>
              <a:t>Parada</a:t>
            </a:r>
            <a:endParaRPr lang="en-US" sz="1800" dirty="0"/>
          </a:p>
          <a:p>
            <a:pPr marL="0" indent="0">
              <a:buNone/>
            </a:pPr>
            <a:r>
              <a:rPr lang="en-US" sz="1800" dirty="0">
                <a:solidFill>
                  <a:schemeClr val="bg2"/>
                </a:solidFill>
              </a:rPr>
              <a:t>Sección 001 · Duoc UC San Bernardo</a:t>
            </a:r>
            <a:endParaRPr lang="en-US" sz="1800" dirty="0"/>
          </a:p>
        </p:txBody>
      </p:sp>
      <p:sp>
        <p:nvSpPr>
          <p:cNvPr id="4" name="Portada círculo"/>
          <p:cNvSpPr/>
          <p:nvPr/>
        </p:nvSpPr>
        <p:spPr>
          <a:xfrm>
            <a:off x="8412480" y="1737360"/>
            <a:ext cx="3108960" cy="3108960"/>
          </a:xfrm>
          <a:prstGeom prst="ellipse">
            <a:avLst/>
          </a:prstGeom>
          <a:solidFill>
            <a:schemeClr val="accent1"/>
          </a:solidFill>
          <a:ln w="12700">
            <a:solidFill>
              <a:schemeClr val="accent1"/>
            </a:solidFill>
            <a:prstDash val="solid"/>
          </a:ln>
        </p:spPr>
      </p:sp>
      <p:pic>
        <p:nvPicPr>
          <p:cNvPr id="5" name="Portada ícono" descr="Cajas de inventario"/>
          <p:cNvPicPr>
            <a:picLocks noChangeAspect="1"/>
          </p:cNvPicPr>
          <p:nvPr/>
        </p:nvPicPr>
        <p:blipFill>
          <a:blip r:embed="rId3"/>
          <a:stretch>
            <a:fillRect/>
          </a:stretch>
        </p:blipFill>
        <p:spPr>
          <a:xfrm>
            <a:off x="9235440" y="2560320"/>
            <a:ext cx="1463040" cy="1463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El problema: el stock registrado no coincide con el real</a:t>
            </a:r>
            <a:endParaRPr lang="en-US" sz="3400" dirty="0"/>
          </a:p>
        </p:txBody>
      </p:sp>
      <p:sp>
        <p:nvSpPr>
          <p:cNvPr id="3" name="Tarjeta problema 1"/>
          <p:cNvSpPr/>
          <p:nvPr/>
        </p:nvSpPr>
        <p:spPr>
          <a:xfrm>
            <a:off x="548640" y="1554480"/>
            <a:ext cx="3474720" cy="3200400"/>
          </a:xfrm>
          <a:prstGeom prst="roundRect">
            <a:avLst>
              <a:gd name="adj" fmla="val 3429"/>
            </a:avLst>
          </a:prstGeom>
          <a:solidFill>
            <a:schemeClr val="bg2"/>
          </a:solidFill>
          <a:ln w="12700">
            <a:solidFill>
              <a:schemeClr val="bg2"/>
            </a:solidFill>
            <a:prstDash val="solid"/>
          </a:ln>
        </p:spPr>
      </p:sp>
      <p:sp>
        <p:nvSpPr>
          <p:cNvPr id="4" name="Problema 1 círculo"/>
          <p:cNvSpPr/>
          <p:nvPr/>
        </p:nvSpPr>
        <p:spPr>
          <a:xfrm>
            <a:off x="868680" y="1874520"/>
            <a:ext cx="822960" cy="822960"/>
          </a:xfrm>
          <a:prstGeom prst="ellipse">
            <a:avLst/>
          </a:prstGeom>
          <a:solidFill>
            <a:schemeClr val="accent1"/>
          </a:solidFill>
          <a:ln w="12700">
            <a:solidFill>
              <a:schemeClr val="accent1"/>
            </a:solidFill>
            <a:prstDash val="solid"/>
          </a:ln>
        </p:spPr>
      </p:sp>
      <p:pic>
        <p:nvPicPr>
          <p:cNvPr id="5" name="Problema 1 ícono" descr="Problema 1"/>
          <p:cNvPicPr>
            <a:picLocks noChangeAspect="1"/>
          </p:cNvPicPr>
          <p:nvPr/>
        </p:nvPicPr>
        <p:blipFill>
          <a:blip r:embed="rId3"/>
          <a:stretch>
            <a:fillRect/>
          </a:stretch>
        </p:blipFill>
        <p:spPr>
          <a:xfrm>
            <a:off x="1066190" y="2072030"/>
            <a:ext cx="427939" cy="427939"/>
          </a:xfrm>
          <a:prstGeom prst="rect">
            <a:avLst/>
          </a:prstGeom>
        </p:spPr>
      </p:pic>
      <p:sp>
        <p:nvSpPr>
          <p:cNvPr id="6" name="Text 3"/>
          <p:cNvSpPr txBox="1"/>
          <p:nvPr/>
        </p:nvSpPr>
        <p:spPr>
          <a:xfrm>
            <a:off x="868680" y="2834640"/>
            <a:ext cx="2834640" cy="731520"/>
          </a:xfrm>
          <a:prstGeom prst="rect">
            <a:avLst/>
          </a:prstGeom>
          <a:noFill/>
          <a:ln/>
        </p:spPr>
        <p:txBody>
          <a:bodyPr wrap="square" lIns="0" tIns="0" rIns="0" bIns="0" rtlCol="0" anchor="t"/>
          <a:lstStyle/>
          <a:p>
            <a:pPr marL="0" indent="0">
              <a:buNone/>
            </a:pPr>
            <a:r>
              <a:rPr lang="en-US" sz="2000" b="1" dirty="0">
                <a:solidFill>
                  <a:schemeClr val="tx2"/>
                </a:solidFill>
              </a:rPr>
              <a:t>Cantidades que no cuadran</a:t>
            </a:r>
            <a:endParaRPr lang="en-US" sz="2000" dirty="0"/>
          </a:p>
        </p:txBody>
      </p:sp>
      <p:sp>
        <p:nvSpPr>
          <p:cNvPr id="7" name="Text 4"/>
          <p:cNvSpPr txBox="1"/>
          <p:nvPr/>
        </p:nvSpPr>
        <p:spPr>
          <a:xfrm>
            <a:off x="868680" y="3611880"/>
            <a:ext cx="2834640" cy="1005840"/>
          </a:xfrm>
          <a:prstGeom prst="rect">
            <a:avLst/>
          </a:prstGeom>
          <a:noFill/>
          <a:ln/>
        </p:spPr>
        <p:txBody>
          <a:bodyPr wrap="square" lIns="0" tIns="0" rIns="0" bIns="0" rtlCol="0" anchor="t"/>
          <a:lstStyle/>
          <a:p>
            <a:pPr marL="0" indent="0">
              <a:buNone/>
            </a:pPr>
            <a:r>
              <a:rPr lang="en-US" sz="1600" dirty="0">
                <a:solidFill>
                  <a:schemeClr val="tx1"/>
                </a:solidFill>
              </a:rPr>
              <a:t>Lo que dice el registro y lo que hay en bodega se van separando con el tiempo.</a:t>
            </a:r>
            <a:endParaRPr lang="en-US" sz="1600" dirty="0"/>
          </a:p>
        </p:txBody>
      </p:sp>
      <p:sp>
        <p:nvSpPr>
          <p:cNvPr id="8" name="Tarjeta problema 2"/>
          <p:cNvSpPr/>
          <p:nvPr/>
        </p:nvSpPr>
        <p:spPr>
          <a:xfrm>
            <a:off x="4343400" y="1554480"/>
            <a:ext cx="3474720" cy="3200400"/>
          </a:xfrm>
          <a:prstGeom prst="roundRect">
            <a:avLst>
              <a:gd name="adj" fmla="val 3429"/>
            </a:avLst>
          </a:prstGeom>
          <a:solidFill>
            <a:schemeClr val="bg2"/>
          </a:solidFill>
          <a:ln w="12700">
            <a:solidFill>
              <a:schemeClr val="bg2"/>
            </a:solidFill>
            <a:prstDash val="solid"/>
          </a:ln>
        </p:spPr>
      </p:sp>
      <p:sp>
        <p:nvSpPr>
          <p:cNvPr id="9" name="Problema 2 círculo"/>
          <p:cNvSpPr/>
          <p:nvPr/>
        </p:nvSpPr>
        <p:spPr>
          <a:xfrm>
            <a:off x="4663440" y="1874520"/>
            <a:ext cx="822960" cy="822960"/>
          </a:xfrm>
          <a:prstGeom prst="ellipse">
            <a:avLst/>
          </a:prstGeom>
          <a:solidFill>
            <a:schemeClr val="accent1"/>
          </a:solidFill>
          <a:ln w="12700">
            <a:solidFill>
              <a:schemeClr val="accent1"/>
            </a:solidFill>
            <a:prstDash val="solid"/>
          </a:ln>
        </p:spPr>
      </p:sp>
      <p:pic>
        <p:nvPicPr>
          <p:cNvPr id="10" name="Problema 2 ícono" descr="Problema 2"/>
          <p:cNvPicPr>
            <a:picLocks noChangeAspect="1"/>
          </p:cNvPicPr>
          <p:nvPr/>
        </p:nvPicPr>
        <p:blipFill>
          <a:blip r:embed="rId4"/>
          <a:stretch>
            <a:fillRect/>
          </a:stretch>
        </p:blipFill>
        <p:spPr>
          <a:xfrm>
            <a:off x="4860950" y="2072030"/>
            <a:ext cx="427939" cy="427939"/>
          </a:xfrm>
          <a:prstGeom prst="rect">
            <a:avLst/>
          </a:prstGeom>
        </p:spPr>
      </p:pic>
      <p:sp>
        <p:nvSpPr>
          <p:cNvPr id="11" name="Text 7"/>
          <p:cNvSpPr txBox="1"/>
          <p:nvPr/>
        </p:nvSpPr>
        <p:spPr>
          <a:xfrm>
            <a:off x="4663440" y="2834640"/>
            <a:ext cx="2834640" cy="731520"/>
          </a:xfrm>
          <a:prstGeom prst="rect">
            <a:avLst/>
          </a:prstGeom>
          <a:noFill/>
          <a:ln/>
        </p:spPr>
        <p:txBody>
          <a:bodyPr wrap="square" lIns="0" tIns="0" rIns="0" bIns="0" rtlCol="0" anchor="t"/>
          <a:lstStyle/>
          <a:p>
            <a:pPr marL="0" indent="0">
              <a:buNone/>
            </a:pPr>
            <a:r>
              <a:rPr lang="en-US" sz="2000" b="1" dirty="0">
                <a:solidFill>
                  <a:schemeClr val="tx2"/>
                </a:solidFill>
              </a:rPr>
              <a:t>Movimientos sin anotar</a:t>
            </a:r>
            <a:endParaRPr lang="en-US" sz="2000" dirty="0"/>
          </a:p>
        </p:txBody>
      </p:sp>
      <p:sp>
        <p:nvSpPr>
          <p:cNvPr id="12" name="Text 8"/>
          <p:cNvSpPr txBox="1"/>
          <p:nvPr/>
        </p:nvSpPr>
        <p:spPr>
          <a:xfrm>
            <a:off x="4663440" y="3611880"/>
            <a:ext cx="2834640" cy="1005840"/>
          </a:xfrm>
          <a:prstGeom prst="rect">
            <a:avLst/>
          </a:prstGeom>
          <a:noFill/>
          <a:ln/>
        </p:spPr>
        <p:txBody>
          <a:bodyPr wrap="square" lIns="0" tIns="0" rIns="0" bIns="0" rtlCol="0" anchor="t"/>
          <a:lstStyle/>
          <a:p>
            <a:pPr marL="0" indent="0">
              <a:buNone/>
            </a:pPr>
            <a:r>
              <a:rPr lang="en-US" sz="1600" dirty="0">
                <a:solidFill>
                  <a:schemeClr val="tx1"/>
                </a:solidFill>
              </a:rPr>
              <a:t>Entradas o ventas que se olvidan de registrar dejan la información desactualizada.</a:t>
            </a:r>
            <a:endParaRPr lang="en-US" sz="1600" dirty="0"/>
          </a:p>
        </p:txBody>
      </p:sp>
      <p:sp>
        <p:nvSpPr>
          <p:cNvPr id="13" name="Tarjeta problema 3"/>
          <p:cNvSpPr/>
          <p:nvPr/>
        </p:nvSpPr>
        <p:spPr>
          <a:xfrm>
            <a:off x="8138160" y="1554480"/>
            <a:ext cx="3474720" cy="3200400"/>
          </a:xfrm>
          <a:prstGeom prst="roundRect">
            <a:avLst>
              <a:gd name="adj" fmla="val 3429"/>
            </a:avLst>
          </a:prstGeom>
          <a:solidFill>
            <a:schemeClr val="bg2"/>
          </a:solidFill>
          <a:ln w="12700">
            <a:solidFill>
              <a:schemeClr val="bg2"/>
            </a:solidFill>
            <a:prstDash val="solid"/>
          </a:ln>
        </p:spPr>
      </p:sp>
      <p:sp>
        <p:nvSpPr>
          <p:cNvPr id="14" name="Problema 3 círculo"/>
          <p:cNvSpPr/>
          <p:nvPr/>
        </p:nvSpPr>
        <p:spPr>
          <a:xfrm>
            <a:off x="8458200" y="1874520"/>
            <a:ext cx="822960" cy="822960"/>
          </a:xfrm>
          <a:prstGeom prst="ellipse">
            <a:avLst/>
          </a:prstGeom>
          <a:solidFill>
            <a:schemeClr val="accent1"/>
          </a:solidFill>
          <a:ln w="12700">
            <a:solidFill>
              <a:schemeClr val="accent1"/>
            </a:solidFill>
            <a:prstDash val="solid"/>
          </a:ln>
        </p:spPr>
      </p:sp>
      <p:pic>
        <p:nvPicPr>
          <p:cNvPr id="15" name="Problema 3 ícono" descr="Problema 3"/>
          <p:cNvPicPr>
            <a:picLocks noChangeAspect="1"/>
          </p:cNvPicPr>
          <p:nvPr/>
        </p:nvPicPr>
        <p:blipFill>
          <a:blip r:embed="rId5"/>
          <a:stretch>
            <a:fillRect/>
          </a:stretch>
        </p:blipFill>
        <p:spPr>
          <a:xfrm>
            <a:off x="8655710" y="2072030"/>
            <a:ext cx="427939" cy="427939"/>
          </a:xfrm>
          <a:prstGeom prst="rect">
            <a:avLst/>
          </a:prstGeom>
        </p:spPr>
      </p:pic>
      <p:sp>
        <p:nvSpPr>
          <p:cNvPr id="16" name="Text 11"/>
          <p:cNvSpPr txBox="1"/>
          <p:nvPr/>
        </p:nvSpPr>
        <p:spPr>
          <a:xfrm>
            <a:off x="8458200" y="2834640"/>
            <a:ext cx="2834640" cy="731520"/>
          </a:xfrm>
          <a:prstGeom prst="rect">
            <a:avLst/>
          </a:prstGeom>
          <a:noFill/>
          <a:ln/>
        </p:spPr>
        <p:txBody>
          <a:bodyPr wrap="square" lIns="0" tIns="0" rIns="0" bIns="0" rtlCol="0" anchor="t"/>
          <a:lstStyle/>
          <a:p>
            <a:pPr marL="0" indent="0">
              <a:buNone/>
            </a:pPr>
            <a:r>
              <a:rPr lang="en-US" sz="2000" b="1" dirty="0">
                <a:solidFill>
                  <a:schemeClr val="tx2"/>
                </a:solidFill>
              </a:rPr>
              <a:t>Reposición tardía</a:t>
            </a:r>
            <a:endParaRPr lang="en-US" sz="2000" dirty="0"/>
          </a:p>
        </p:txBody>
      </p:sp>
      <p:sp>
        <p:nvSpPr>
          <p:cNvPr id="17" name="Text 12"/>
          <p:cNvSpPr txBox="1"/>
          <p:nvPr/>
        </p:nvSpPr>
        <p:spPr>
          <a:xfrm>
            <a:off x="8458200" y="3611880"/>
            <a:ext cx="2834640" cy="1005840"/>
          </a:xfrm>
          <a:prstGeom prst="rect">
            <a:avLst/>
          </a:prstGeom>
          <a:noFill/>
          <a:ln/>
        </p:spPr>
        <p:txBody>
          <a:bodyPr wrap="square" lIns="0" tIns="0" rIns="0" bIns="0" rtlCol="0" anchor="t"/>
          <a:lstStyle/>
          <a:p>
            <a:pPr marL="0" indent="0">
              <a:buNone/>
            </a:pPr>
            <a:r>
              <a:rPr lang="en-US" sz="1600" dirty="0">
                <a:solidFill>
                  <a:schemeClr val="tx1"/>
                </a:solidFill>
              </a:rPr>
              <a:t>Nadie ve a tiempo qué producto se está acabando y hay que comprar a última hora.</a:t>
            </a:r>
            <a:endParaRPr lang="en-US" sz="1600" dirty="0"/>
          </a:p>
        </p:txBody>
      </p:sp>
      <p:sp>
        <p:nvSpPr>
          <p:cNvPr id="18" name="Consecuencia fondo"/>
          <p:cNvSpPr/>
          <p:nvPr/>
        </p:nvSpPr>
        <p:spPr>
          <a:xfrm>
            <a:off x="548640" y="5074920"/>
            <a:ext cx="11064240" cy="914400"/>
          </a:xfrm>
          <a:prstGeom prst="roundRect">
            <a:avLst>
              <a:gd name="adj" fmla="val 12000"/>
            </a:avLst>
          </a:prstGeom>
          <a:solidFill>
            <a:schemeClr val="tx2"/>
          </a:solidFill>
          <a:ln w="12700">
            <a:solidFill>
              <a:schemeClr val="tx2"/>
            </a:solidFill>
            <a:prstDash val="solid"/>
          </a:ln>
        </p:spPr>
      </p:sp>
      <p:sp>
        <p:nvSpPr>
          <p:cNvPr id="19" name="Text 14"/>
          <p:cNvSpPr txBox="1"/>
          <p:nvPr/>
        </p:nvSpPr>
        <p:spPr>
          <a:xfrm>
            <a:off x="868680" y="5074920"/>
            <a:ext cx="10424160" cy="914400"/>
          </a:xfrm>
          <a:prstGeom prst="rect">
            <a:avLst/>
          </a:prstGeom>
          <a:noFill/>
          <a:ln/>
        </p:spPr>
        <p:txBody>
          <a:bodyPr wrap="square" lIns="0" tIns="0" rIns="0" bIns="0" rtlCol="0" anchor="ctr"/>
          <a:lstStyle/>
          <a:p>
            <a:pPr marL="0" indent="0">
              <a:buNone/>
            </a:pPr>
            <a:r>
              <a:rPr lang="en-US" sz="2000" b="1" dirty="0">
                <a:solidFill>
                  <a:schemeClr val="bg1"/>
                </a:solidFill>
              </a:rPr>
              <a:t>Consecuencia: falta de insumos, compras innecesarias y demoras en atender a los clientes.</a:t>
            </a:r>
            <a:endParaRPr lang="en-US" sz="2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Alcance del MVP: qué incluye y qué no</a:t>
            </a:r>
            <a:endParaRPr lang="en-US" sz="3400" dirty="0"/>
          </a:p>
        </p:txBody>
      </p:sp>
      <p:sp>
        <p:nvSpPr>
          <p:cNvPr id="3" name="Tarjeta incluye"/>
          <p:cNvSpPr/>
          <p:nvPr/>
        </p:nvSpPr>
        <p:spPr>
          <a:xfrm>
            <a:off x="548640" y="1463040"/>
            <a:ext cx="5943600" cy="4663440"/>
          </a:xfrm>
          <a:prstGeom prst="roundRect">
            <a:avLst>
              <a:gd name="adj" fmla="val 2353"/>
            </a:avLst>
          </a:prstGeom>
          <a:solidFill>
            <a:schemeClr val="bg2"/>
          </a:solidFill>
          <a:ln w="12700">
            <a:solidFill>
              <a:schemeClr val="bg2"/>
            </a:solidFill>
            <a:prstDash val="solid"/>
          </a:ln>
        </p:spPr>
      </p:sp>
      <p:sp>
        <p:nvSpPr>
          <p:cNvPr id="4" name="Tarjeta no incluye"/>
          <p:cNvSpPr/>
          <p:nvPr/>
        </p:nvSpPr>
        <p:spPr>
          <a:xfrm>
            <a:off x="6766560" y="1463040"/>
            <a:ext cx="4846320" cy="4663440"/>
          </a:xfrm>
          <a:prstGeom prst="roundRect">
            <a:avLst>
              <a:gd name="adj" fmla="val 2353"/>
            </a:avLst>
          </a:prstGeom>
          <a:solidFill>
            <a:schemeClr val="bg2"/>
          </a:solidFill>
          <a:ln w="12700">
            <a:solidFill>
              <a:schemeClr val="bg2"/>
            </a:solidFill>
            <a:prstDash val="solid"/>
          </a:ln>
        </p:spPr>
      </p:sp>
      <p:pic>
        <p:nvPicPr>
          <p:cNvPr id="5" name="Image 0" descr="Incluye"/>
          <p:cNvPicPr>
            <a:picLocks noChangeAspect="1"/>
          </p:cNvPicPr>
          <p:nvPr/>
        </p:nvPicPr>
        <p:blipFill>
          <a:blip r:embed="rId3"/>
          <a:stretch>
            <a:fillRect/>
          </a:stretch>
        </p:blipFill>
        <p:spPr>
          <a:xfrm>
            <a:off x="868680" y="1737360"/>
            <a:ext cx="411480" cy="411480"/>
          </a:xfrm>
          <a:prstGeom prst="rect">
            <a:avLst/>
          </a:prstGeom>
        </p:spPr>
      </p:pic>
      <p:sp>
        <p:nvSpPr>
          <p:cNvPr id="6" name="Text 3"/>
          <p:cNvSpPr txBox="1"/>
          <p:nvPr/>
        </p:nvSpPr>
        <p:spPr>
          <a:xfrm>
            <a:off x="1463040" y="1737360"/>
            <a:ext cx="3657600" cy="411480"/>
          </a:xfrm>
          <a:prstGeom prst="rect">
            <a:avLst/>
          </a:prstGeom>
          <a:noFill/>
          <a:ln/>
        </p:spPr>
        <p:txBody>
          <a:bodyPr wrap="square" lIns="0" tIns="0" rIns="0" bIns="0" rtlCol="0" anchor="ctr"/>
          <a:lstStyle/>
          <a:p>
            <a:pPr marL="0" indent="0">
              <a:buNone/>
            </a:pPr>
            <a:r>
              <a:rPr lang="en-US" sz="2200" b="1" dirty="0">
                <a:solidFill>
                  <a:schemeClr val="tx2"/>
                </a:solidFill>
              </a:rPr>
              <a:t>Sí incluye</a:t>
            </a:r>
            <a:endParaRPr lang="en-US" sz="2200" dirty="0"/>
          </a:p>
        </p:txBody>
      </p:sp>
      <p:sp>
        <p:nvSpPr>
          <p:cNvPr id="7" name="Text 4"/>
          <p:cNvSpPr txBox="1"/>
          <p:nvPr/>
        </p:nvSpPr>
        <p:spPr>
          <a:xfrm>
            <a:off x="868680" y="2377440"/>
            <a:ext cx="5394960" cy="347472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tx1"/>
                </a:solidFill>
              </a:rPr>
              <a:t>Inicio de sesión según perfil</a:t>
            </a:r>
            <a:endParaRPr lang="en-US" sz="2000" dirty="0"/>
          </a:p>
          <a:p>
            <a:pPr marL="342900" indent="-342900">
              <a:spcAft>
                <a:spcPts val="1400"/>
              </a:spcAft>
              <a:buSzPct val="100000"/>
              <a:buChar char="•"/>
            </a:pPr>
            <a:r>
              <a:rPr lang="en-US" sz="2000" dirty="0">
                <a:solidFill>
                  <a:schemeClr val="tx1"/>
                </a:solidFill>
              </a:rPr>
              <a:t>Catálogo con búsqueda y filtro por categoría</a:t>
            </a:r>
            <a:endParaRPr lang="en-US" sz="2000" dirty="0"/>
          </a:p>
          <a:p>
            <a:pPr marL="342900" indent="-342900">
              <a:spcAft>
                <a:spcPts val="1400"/>
              </a:spcAft>
              <a:buSzPct val="100000"/>
              <a:buChar char="•"/>
            </a:pPr>
            <a:r>
              <a:rPr lang="en-US" sz="2000" dirty="0">
                <a:solidFill>
                  <a:schemeClr val="tx1"/>
                </a:solidFill>
              </a:rPr>
              <a:t>Registro de ingresos y salidas (ventas)</a:t>
            </a:r>
            <a:endParaRPr lang="en-US" sz="2000" dirty="0"/>
          </a:p>
          <a:p>
            <a:pPr marL="342900" indent="-342900">
              <a:spcAft>
                <a:spcPts val="1400"/>
              </a:spcAft>
              <a:buSzPct val="100000"/>
              <a:buChar char="•"/>
            </a:pPr>
            <a:r>
              <a:rPr lang="en-US" sz="2000" dirty="0">
                <a:solidFill>
                  <a:schemeClr val="tx1"/>
                </a:solidFill>
              </a:rPr>
              <a:t>Stock que se actualiza solo en cada movimiento</a:t>
            </a:r>
            <a:endParaRPr lang="en-US" sz="2000" dirty="0"/>
          </a:p>
          <a:p>
            <a:pPr marL="342900" indent="-342900">
              <a:spcAft>
                <a:spcPts val="1400"/>
              </a:spcAft>
              <a:buSzPct val="100000"/>
              <a:buChar char="•"/>
            </a:pPr>
            <a:r>
              <a:rPr lang="en-US" sz="2000" dirty="0">
                <a:solidFill>
                  <a:schemeClr val="tx1"/>
                </a:solidFill>
              </a:rPr>
              <a:t>Alertas de productos bajo su nivel mínimo</a:t>
            </a:r>
            <a:endParaRPr lang="en-US" sz="2000" dirty="0"/>
          </a:p>
          <a:p>
            <a:pPr marL="342900" indent="-342900">
              <a:spcAft>
                <a:spcPts val="1400"/>
              </a:spcAft>
              <a:buSzPct val="100000"/>
              <a:buChar char="•"/>
            </a:pPr>
            <a:r>
              <a:rPr lang="en-US" sz="2000" dirty="0">
                <a:solidFill>
                  <a:schemeClr val="tx1"/>
                </a:solidFill>
              </a:rPr>
              <a:t>Historial de movimientos con responsable</a:t>
            </a:r>
            <a:endParaRPr lang="en-US" sz="2000" dirty="0"/>
          </a:p>
        </p:txBody>
      </p:sp>
      <p:pic>
        <p:nvPicPr>
          <p:cNvPr id="8" name="Image 1" descr="No incluye"/>
          <p:cNvPicPr>
            <a:picLocks noChangeAspect="1"/>
          </p:cNvPicPr>
          <p:nvPr/>
        </p:nvPicPr>
        <p:blipFill>
          <a:blip r:embed="rId4"/>
          <a:stretch>
            <a:fillRect/>
          </a:stretch>
        </p:blipFill>
        <p:spPr>
          <a:xfrm>
            <a:off x="7086600" y="1737360"/>
            <a:ext cx="411480" cy="411480"/>
          </a:xfrm>
          <a:prstGeom prst="rect">
            <a:avLst/>
          </a:prstGeom>
        </p:spPr>
      </p:pic>
      <p:sp>
        <p:nvSpPr>
          <p:cNvPr id="9" name="Text 5"/>
          <p:cNvSpPr txBox="1"/>
          <p:nvPr/>
        </p:nvSpPr>
        <p:spPr>
          <a:xfrm>
            <a:off x="7680960" y="1737360"/>
            <a:ext cx="3657600" cy="411480"/>
          </a:xfrm>
          <a:prstGeom prst="rect">
            <a:avLst/>
          </a:prstGeom>
          <a:noFill/>
          <a:ln/>
        </p:spPr>
        <p:txBody>
          <a:bodyPr wrap="square" lIns="0" tIns="0" rIns="0" bIns="0" rtlCol="0" anchor="ctr"/>
          <a:lstStyle/>
          <a:p>
            <a:pPr marL="0" indent="0">
              <a:buNone/>
            </a:pPr>
            <a:r>
              <a:rPr lang="en-US" sz="2200" b="1" dirty="0">
                <a:solidFill>
                  <a:schemeClr val="tx2"/>
                </a:solidFill>
              </a:rPr>
              <a:t>Queda fuera</a:t>
            </a:r>
            <a:endParaRPr lang="en-US" sz="2200" dirty="0"/>
          </a:p>
        </p:txBody>
      </p:sp>
      <p:sp>
        <p:nvSpPr>
          <p:cNvPr id="10" name="Text 6"/>
          <p:cNvSpPr txBox="1"/>
          <p:nvPr/>
        </p:nvSpPr>
        <p:spPr>
          <a:xfrm>
            <a:off x="7086600" y="2377440"/>
            <a:ext cx="4206240" cy="347472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tx1"/>
                </a:solidFill>
              </a:rPr>
              <a:t>Conexión con ventas, compras o facturación</a:t>
            </a:r>
            <a:endParaRPr lang="en-US" sz="2000" dirty="0"/>
          </a:p>
          <a:p>
            <a:pPr marL="342900" indent="-342900">
              <a:spcAft>
                <a:spcPts val="1400"/>
              </a:spcAft>
              <a:buSzPct val="100000"/>
              <a:buChar char="•"/>
            </a:pPr>
            <a:r>
              <a:rPr lang="en-US" sz="2000" dirty="0">
                <a:solidFill>
                  <a:schemeClr val="tx1"/>
                </a:solidFill>
              </a:rPr>
              <a:t>Datos reales de Cappucare</a:t>
            </a:r>
            <a:endParaRPr lang="en-US" sz="2000" dirty="0"/>
          </a:p>
          <a:p>
            <a:pPr marL="342900" indent="-342900">
              <a:spcAft>
                <a:spcPts val="1400"/>
              </a:spcAft>
              <a:buSzPct val="100000"/>
              <a:buChar char="•"/>
            </a:pPr>
            <a:r>
              <a:rPr lang="en-US" sz="2000" dirty="0">
                <a:solidFill>
                  <a:schemeClr val="tx1"/>
                </a:solidFill>
              </a:rPr>
              <a:t>Varias bodegas (supuesto a confirmar)</a:t>
            </a:r>
            <a:endParaRPr lang="en-US" sz="2000" dirty="0"/>
          </a:p>
          <a:p>
            <a:pPr marL="342900" indent="-342900">
              <a:spcAft>
                <a:spcPts val="1400"/>
              </a:spcAft>
              <a:buSzPct val="100000"/>
              <a:buChar char="•"/>
            </a:pPr>
            <a:r>
              <a:rPr lang="en-US" sz="2000" dirty="0">
                <a:solidFill>
                  <a:schemeClr val="tx1"/>
                </a:solidFill>
              </a:rPr>
              <a:t>Servidor externo: los datos quedan en el dispositivo</a:t>
            </a:r>
            <a:endParaRPr lang="en-US" sz="2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Dos perfiles de usuario con permisos distintos</a:t>
            </a:r>
            <a:endParaRPr lang="en-US" sz="3400" dirty="0"/>
          </a:p>
        </p:txBody>
      </p:sp>
      <p:graphicFrame>
        <p:nvGraphicFramePr>
          <p:cNvPr id="5" name="Tabla permisos"/>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3968496"/>
        </p:xfrm>
        <a:graphic>
          <a:graphicData uri="http://schemas.openxmlformats.org/drawingml/2006/table">
            <a:tbl>
              <a:tblPr/>
              <a:tblGrid>
                <a:gridCol w="50292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566928">
                <a:tc>
                  <a:txBody>
                    <a:bodyPr/>
                    <a:lstStyle/>
                    <a:p>
                      <a:pPr marL="0" indent="0">
                        <a:buNone/>
                      </a:pPr>
                      <a:r>
                        <a:rPr lang="en-US" sz="1600" b="1" dirty="0">
                          <a:solidFill>
                            <a:schemeClr val="bg1"/>
                          </a:solidFill>
                        </a:rPr>
                        <a:t>Funcionalidad</a:t>
                      </a:r>
                      <a:endParaRPr lang="en-US" sz="16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rPr>
                        <a:t>Personal encargado</a:t>
                      </a:r>
                      <a:endParaRPr lang="en-US" sz="16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rPr>
                        <a:t>Usuario autorizado</a:t>
                      </a:r>
                      <a:endParaRPr lang="en-US" sz="16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66928">
                <a:tc>
                  <a:txBody>
                    <a:bodyPr/>
                    <a:lstStyle/>
                    <a:p>
                      <a:pPr marL="0" indent="0">
                        <a:buNone/>
                      </a:pPr>
                      <a:r>
                        <a:rPr lang="en-US" sz="1600" dirty="0">
                          <a:solidFill>
                            <a:schemeClr val="tx1"/>
                          </a:solidFill>
                        </a:rPr>
                        <a:t>Crear y editar productos</a:t>
                      </a:r>
                      <a:endParaRPr lang="en-US" sz="16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accent5"/>
                          </a:solidFill>
                        </a:rPr>
                        <a:t>Sí</a:t>
                      </a:r>
                      <a:endParaRPr lang="en-US" sz="16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accent3"/>
                          </a:solidFill>
                        </a:rPr>
                        <a:t>No (supuesto)</a:t>
                      </a:r>
                      <a:endParaRPr lang="en-US" sz="16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66928">
                <a:tc>
                  <a:txBody>
                    <a:bodyPr/>
                    <a:lstStyle/>
                    <a:p>
                      <a:pPr marL="0" indent="0">
                        <a:buNone/>
                      </a:pPr>
                      <a:r>
                        <a:rPr lang="en-US" sz="1600" dirty="0">
                          <a:solidFill>
                            <a:schemeClr val="tx1"/>
                          </a:solidFill>
                        </a:rPr>
                        <a:t>Cambiar el estado de un producto</a:t>
                      </a:r>
                      <a:endParaRPr lang="en-US" sz="16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accent5"/>
                          </a:solidFill>
                        </a:rPr>
                        <a:t>Sí</a:t>
                      </a:r>
                      <a:endParaRPr lang="en-US" sz="16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accent3"/>
                          </a:solidFill>
                        </a:rPr>
                        <a:t>No (supuesto)</a:t>
                      </a:r>
                      <a:endParaRPr lang="en-US" sz="16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66928">
                <a:tc>
                  <a:txBody>
                    <a:bodyPr/>
                    <a:lstStyle/>
                    <a:p>
                      <a:pPr marL="0" indent="0">
                        <a:buNone/>
                      </a:pPr>
                      <a:r>
                        <a:rPr lang="en-US" sz="1600" dirty="0">
                          <a:solidFill>
                            <a:schemeClr val="tx1"/>
                          </a:solidFill>
                        </a:rPr>
                        <a:t>Consultar disponibilidad y buscar</a:t>
                      </a:r>
                      <a:endParaRPr lang="en-US" sz="16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accent5"/>
                          </a:solidFill>
                        </a:rPr>
                        <a:t>Sí</a:t>
                      </a:r>
                      <a:endParaRPr lang="en-US" sz="16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accent5"/>
                          </a:solidFill>
                        </a:rPr>
                        <a:t>Sí</a:t>
                      </a:r>
                      <a:endParaRPr lang="en-US" sz="16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66928">
                <a:tc>
                  <a:txBody>
                    <a:bodyPr/>
                    <a:lstStyle/>
                    <a:p>
                      <a:pPr marL="0" indent="0">
                        <a:buNone/>
                      </a:pPr>
                      <a:r>
                        <a:rPr lang="en-US" sz="1600" dirty="0">
                          <a:solidFill>
                            <a:schemeClr val="tx1"/>
                          </a:solidFill>
                        </a:rPr>
                        <a:t>Registrar ingresos</a:t>
                      </a:r>
                      <a:endParaRPr lang="en-US" sz="16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accent5"/>
                          </a:solidFill>
                        </a:rPr>
                        <a:t>Sí</a:t>
                      </a:r>
                      <a:endParaRPr lang="en-US" sz="16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accent5"/>
                          </a:solidFill>
                        </a:rPr>
                        <a:t>Sí</a:t>
                      </a:r>
                      <a:endParaRPr lang="en-US" sz="16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566928">
                <a:tc>
                  <a:txBody>
                    <a:bodyPr/>
                    <a:lstStyle/>
                    <a:p>
                      <a:pPr marL="0" indent="0">
                        <a:buNone/>
                      </a:pPr>
                      <a:r>
                        <a:rPr lang="en-US" sz="1600" dirty="0">
                          <a:solidFill>
                            <a:schemeClr val="tx1"/>
                          </a:solidFill>
                        </a:rPr>
                        <a:t>Registrar salidas y ventas</a:t>
                      </a:r>
                      <a:endParaRPr lang="en-US" sz="16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accent5"/>
                          </a:solidFill>
                        </a:rPr>
                        <a:t>Sí</a:t>
                      </a:r>
                      <a:endParaRPr lang="en-US" sz="16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accent5"/>
                          </a:solidFill>
                        </a:rPr>
                        <a:t>Sí</a:t>
                      </a:r>
                      <a:endParaRPr lang="en-US" sz="16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566928">
                <a:tc>
                  <a:txBody>
                    <a:bodyPr/>
                    <a:lstStyle/>
                    <a:p>
                      <a:pPr marL="0" indent="0">
                        <a:buNone/>
                      </a:pPr>
                      <a:r>
                        <a:rPr lang="en-US" sz="1600" dirty="0">
                          <a:solidFill>
                            <a:schemeClr val="tx1"/>
                          </a:solidFill>
                        </a:rPr>
                        <a:t>Ver alertas e historial</a:t>
                      </a:r>
                      <a:endParaRPr lang="en-US" sz="16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accent5"/>
                          </a:solidFill>
                        </a:rPr>
                        <a:t>Sí</a:t>
                      </a:r>
                      <a:endParaRPr lang="en-US" sz="16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accent5"/>
                          </a:solidFill>
                        </a:rPr>
                        <a:t>Sí</a:t>
                      </a:r>
                      <a:endParaRPr lang="en-US" sz="16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548640" y="5669280"/>
            <a:ext cx="11064240" cy="457200"/>
          </a:xfrm>
          <a:prstGeom prst="rect">
            <a:avLst/>
          </a:prstGeom>
          <a:noFill/>
          <a:ln/>
        </p:spPr>
        <p:txBody>
          <a:bodyPr wrap="square" lIns="0" tIns="0" rIns="0" bIns="0" rtlCol="0" anchor="ctr"/>
          <a:lstStyle/>
          <a:p>
            <a:pPr marL="0" indent="0">
              <a:buNone/>
            </a:pPr>
            <a:r>
              <a:rPr lang="en-US" sz="1400" dirty="0">
                <a:solidFill>
                  <a:schemeClr val="accent6"/>
                </a:solidFill>
              </a:rPr>
              <a:t>El permiso del Usuario autorizado para crear y editar productos es un supuesto: se confirma con el CITT.</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Arquitectura MVVM: cada capa tiene un trabajo</a:t>
            </a:r>
            <a:endParaRPr lang="en-US" sz="3400" dirty="0"/>
          </a:p>
        </p:txBody>
      </p:sp>
      <p:sp>
        <p:nvSpPr>
          <p:cNvPr id="3" name="Capa Pantalla"/>
          <p:cNvSpPr/>
          <p:nvPr/>
        </p:nvSpPr>
        <p:spPr>
          <a:xfrm>
            <a:off x="548640" y="1554480"/>
            <a:ext cx="2560320" cy="2926080"/>
          </a:xfrm>
          <a:prstGeom prst="roundRect">
            <a:avLst>
              <a:gd name="adj" fmla="val 4286"/>
            </a:avLst>
          </a:prstGeom>
          <a:solidFill>
            <a:schemeClr val="accent1"/>
          </a:solidFill>
          <a:ln w="12700">
            <a:solidFill>
              <a:schemeClr val="accent1"/>
            </a:solidFill>
            <a:prstDash val="solid"/>
          </a:ln>
        </p:spPr>
      </p:sp>
      <p:sp>
        <p:nvSpPr>
          <p:cNvPr id="4" name="Text 2"/>
          <p:cNvSpPr txBox="1"/>
          <p:nvPr/>
        </p:nvSpPr>
        <p:spPr>
          <a:xfrm>
            <a:off x="731520" y="1691640"/>
            <a:ext cx="2194560" cy="457200"/>
          </a:xfrm>
          <a:prstGeom prst="rect">
            <a:avLst/>
          </a:prstGeom>
          <a:noFill/>
          <a:ln/>
        </p:spPr>
        <p:txBody>
          <a:bodyPr wrap="square" lIns="0" tIns="0" rIns="0" bIns="0" rtlCol="0" anchor="ctr"/>
          <a:lstStyle/>
          <a:p>
            <a:pPr marL="0" indent="0">
              <a:buNone/>
            </a:pPr>
            <a:r>
              <a:rPr lang="en-US" sz="2200" b="1" dirty="0">
                <a:solidFill>
                  <a:schemeClr val="bg1"/>
                </a:solidFill>
              </a:rPr>
              <a:t>Pantalla</a:t>
            </a:r>
            <a:endParaRPr lang="en-US" sz="2200" dirty="0"/>
          </a:p>
        </p:txBody>
      </p:sp>
      <p:sp>
        <p:nvSpPr>
          <p:cNvPr id="5" name="Text 3"/>
          <p:cNvSpPr txBox="1"/>
          <p:nvPr/>
        </p:nvSpPr>
        <p:spPr>
          <a:xfrm>
            <a:off x="731520" y="2194560"/>
            <a:ext cx="2194560" cy="320040"/>
          </a:xfrm>
          <a:prstGeom prst="rect">
            <a:avLst/>
          </a:prstGeom>
          <a:noFill/>
          <a:ln/>
        </p:spPr>
        <p:txBody>
          <a:bodyPr wrap="square" lIns="0" tIns="0" rIns="0" bIns="0" rtlCol="0" anchor="ctr"/>
          <a:lstStyle/>
          <a:p>
            <a:pPr marL="0" indent="0">
              <a:buNone/>
            </a:pPr>
            <a:r>
              <a:rPr lang="en-US" sz="1400" i="1" dirty="0">
                <a:solidFill>
                  <a:schemeClr val="bg1"/>
                </a:solidFill>
              </a:rPr>
              <a:t>Jetpack Compose</a:t>
            </a:r>
            <a:endParaRPr lang="en-US" sz="1400" dirty="0"/>
          </a:p>
        </p:txBody>
      </p:sp>
      <p:sp>
        <p:nvSpPr>
          <p:cNvPr id="6" name="Text 4"/>
          <p:cNvSpPr txBox="1"/>
          <p:nvPr/>
        </p:nvSpPr>
        <p:spPr>
          <a:xfrm>
            <a:off x="731520" y="2606040"/>
            <a:ext cx="2194560" cy="502920"/>
          </a:xfrm>
          <a:prstGeom prst="rect">
            <a:avLst/>
          </a:prstGeom>
          <a:noFill/>
          <a:ln/>
        </p:spPr>
        <p:txBody>
          <a:bodyPr wrap="square" lIns="0" tIns="0" rIns="0" bIns="0" rtlCol="0" anchor="t"/>
          <a:lstStyle/>
          <a:p>
            <a:pPr marL="0" indent="0">
              <a:buNone/>
            </a:pPr>
            <a:r>
              <a:rPr lang="en-US" sz="1200" dirty="0">
                <a:solidFill>
                  <a:schemeClr val="bg1"/>
                </a:solidFill>
              </a:rPr>
              <a:t>RegistrarMovimientoScreen.kt</a:t>
            </a:r>
            <a:endParaRPr lang="en-US" sz="1200" dirty="0"/>
          </a:p>
        </p:txBody>
      </p:sp>
      <p:sp>
        <p:nvSpPr>
          <p:cNvPr id="7" name="Text 5"/>
          <p:cNvSpPr txBox="1"/>
          <p:nvPr/>
        </p:nvSpPr>
        <p:spPr>
          <a:xfrm>
            <a:off x="731520" y="3200400"/>
            <a:ext cx="2194560" cy="1097280"/>
          </a:xfrm>
          <a:prstGeom prst="rect">
            <a:avLst/>
          </a:prstGeom>
          <a:noFill/>
          <a:ln/>
        </p:spPr>
        <p:txBody>
          <a:bodyPr wrap="square" lIns="0" tIns="0" rIns="0" bIns="0" rtlCol="0" anchor="t"/>
          <a:lstStyle/>
          <a:p>
            <a:pPr marL="0" indent="0">
              <a:buNone/>
            </a:pPr>
            <a:r>
              <a:rPr lang="en-US" sz="1500" dirty="0">
                <a:solidFill>
                  <a:schemeClr val="bg1"/>
                </a:solidFill>
              </a:rPr>
              <a:t>Muestra el formulario y los errores. No decide nada.</a:t>
            </a:r>
            <a:endParaRPr lang="en-US" sz="1500" dirty="0"/>
          </a:p>
        </p:txBody>
      </p:sp>
      <p:sp>
        <p:nvSpPr>
          <p:cNvPr id="8" name="Flecha 1"/>
          <p:cNvSpPr/>
          <p:nvPr/>
        </p:nvSpPr>
        <p:spPr>
          <a:xfrm>
            <a:off x="3136392" y="3017520"/>
            <a:ext cx="219456" cy="0"/>
          </a:xfrm>
          <a:prstGeom prst="line">
            <a:avLst/>
          </a:prstGeom>
          <a:noFill/>
          <a:ln w="38100">
            <a:solidFill>
              <a:schemeClr val="accent2"/>
            </a:solidFill>
            <a:prstDash val="solid"/>
            <a:tailEnd type="triangle"/>
          </a:ln>
        </p:spPr>
      </p:sp>
      <p:sp>
        <p:nvSpPr>
          <p:cNvPr id="9" name="Capa ViewModel"/>
          <p:cNvSpPr/>
          <p:nvPr/>
        </p:nvSpPr>
        <p:spPr>
          <a:xfrm>
            <a:off x="3383280" y="1554480"/>
            <a:ext cx="2560320" cy="2926080"/>
          </a:xfrm>
          <a:prstGeom prst="roundRect">
            <a:avLst>
              <a:gd name="adj" fmla="val 4286"/>
            </a:avLst>
          </a:prstGeom>
          <a:solidFill>
            <a:schemeClr val="accent1"/>
          </a:solidFill>
          <a:ln w="12700">
            <a:solidFill>
              <a:schemeClr val="accent1"/>
            </a:solidFill>
            <a:prstDash val="solid"/>
          </a:ln>
        </p:spPr>
      </p:sp>
      <p:sp>
        <p:nvSpPr>
          <p:cNvPr id="10" name="Text 8"/>
          <p:cNvSpPr txBox="1"/>
          <p:nvPr/>
        </p:nvSpPr>
        <p:spPr>
          <a:xfrm>
            <a:off x="3566160" y="1691640"/>
            <a:ext cx="2194560" cy="457200"/>
          </a:xfrm>
          <a:prstGeom prst="rect">
            <a:avLst/>
          </a:prstGeom>
          <a:noFill/>
          <a:ln/>
        </p:spPr>
        <p:txBody>
          <a:bodyPr wrap="square" lIns="0" tIns="0" rIns="0" bIns="0" rtlCol="0" anchor="ctr"/>
          <a:lstStyle/>
          <a:p>
            <a:pPr marL="0" indent="0">
              <a:buNone/>
            </a:pPr>
            <a:r>
              <a:rPr lang="en-US" sz="2200" b="1" dirty="0">
                <a:solidFill>
                  <a:schemeClr val="bg1"/>
                </a:solidFill>
              </a:rPr>
              <a:t>ViewModel</a:t>
            </a:r>
            <a:endParaRPr lang="en-US" sz="2200" dirty="0"/>
          </a:p>
        </p:txBody>
      </p:sp>
      <p:sp>
        <p:nvSpPr>
          <p:cNvPr id="11" name="Text 9"/>
          <p:cNvSpPr txBox="1"/>
          <p:nvPr/>
        </p:nvSpPr>
        <p:spPr>
          <a:xfrm>
            <a:off x="3566160" y="2194560"/>
            <a:ext cx="2194560" cy="320040"/>
          </a:xfrm>
          <a:prstGeom prst="rect">
            <a:avLst/>
          </a:prstGeom>
          <a:noFill/>
          <a:ln/>
        </p:spPr>
        <p:txBody>
          <a:bodyPr wrap="square" lIns="0" tIns="0" rIns="0" bIns="0" rtlCol="0" anchor="ctr"/>
          <a:lstStyle/>
          <a:p>
            <a:pPr marL="0" indent="0">
              <a:buNone/>
            </a:pPr>
            <a:r>
              <a:rPr lang="en-US" sz="1400" i="1" dirty="0">
                <a:solidFill>
                  <a:schemeClr val="bg1"/>
                </a:solidFill>
              </a:rPr>
              <a:t>StateFlow</a:t>
            </a:r>
            <a:endParaRPr lang="en-US" sz="1400" dirty="0"/>
          </a:p>
        </p:txBody>
      </p:sp>
      <p:sp>
        <p:nvSpPr>
          <p:cNvPr id="12" name="Text 10"/>
          <p:cNvSpPr txBox="1"/>
          <p:nvPr/>
        </p:nvSpPr>
        <p:spPr>
          <a:xfrm>
            <a:off x="3566160" y="2606040"/>
            <a:ext cx="2194560" cy="502920"/>
          </a:xfrm>
          <a:prstGeom prst="rect">
            <a:avLst/>
          </a:prstGeom>
          <a:noFill/>
          <a:ln/>
        </p:spPr>
        <p:txBody>
          <a:bodyPr wrap="square" lIns="0" tIns="0" rIns="0" bIns="0" rtlCol="0" anchor="t"/>
          <a:lstStyle/>
          <a:p>
            <a:pPr marL="0" indent="0">
              <a:buNone/>
            </a:pPr>
            <a:r>
              <a:rPr lang="en-US" sz="1200" dirty="0">
                <a:solidFill>
                  <a:schemeClr val="bg1"/>
                </a:solidFill>
              </a:rPr>
              <a:t>CappucareViewModel.kt</a:t>
            </a:r>
            <a:endParaRPr lang="en-US" sz="1200" dirty="0"/>
          </a:p>
        </p:txBody>
      </p:sp>
      <p:sp>
        <p:nvSpPr>
          <p:cNvPr id="13" name="Text 11"/>
          <p:cNvSpPr txBox="1"/>
          <p:nvPr/>
        </p:nvSpPr>
        <p:spPr>
          <a:xfrm>
            <a:off x="3566160" y="3200400"/>
            <a:ext cx="2194560" cy="1097280"/>
          </a:xfrm>
          <a:prstGeom prst="rect">
            <a:avLst/>
          </a:prstGeom>
          <a:noFill/>
          <a:ln/>
        </p:spPr>
        <p:txBody>
          <a:bodyPr wrap="square" lIns="0" tIns="0" rIns="0" bIns="0" rtlCol="0" anchor="t"/>
          <a:lstStyle/>
          <a:p>
            <a:pPr marL="0" indent="0">
              <a:buNone/>
            </a:pPr>
            <a:r>
              <a:rPr lang="en-US" sz="1500" dirty="0">
                <a:solidFill>
                  <a:schemeClr val="bg1"/>
                </a:solidFill>
              </a:rPr>
              <a:t>Valida, aplica las reglas y guarda el estado.</a:t>
            </a:r>
            <a:endParaRPr lang="en-US" sz="1500" dirty="0"/>
          </a:p>
        </p:txBody>
      </p:sp>
      <p:sp>
        <p:nvSpPr>
          <p:cNvPr id="14" name="Flecha 2"/>
          <p:cNvSpPr/>
          <p:nvPr/>
        </p:nvSpPr>
        <p:spPr>
          <a:xfrm>
            <a:off x="5971032" y="3017520"/>
            <a:ext cx="219456" cy="0"/>
          </a:xfrm>
          <a:prstGeom prst="line">
            <a:avLst/>
          </a:prstGeom>
          <a:noFill/>
          <a:ln w="38100">
            <a:solidFill>
              <a:schemeClr val="accent2"/>
            </a:solidFill>
            <a:prstDash val="solid"/>
            <a:tailEnd type="triangle"/>
          </a:ln>
        </p:spPr>
      </p:sp>
      <p:sp>
        <p:nvSpPr>
          <p:cNvPr id="15" name="Capa Repository"/>
          <p:cNvSpPr/>
          <p:nvPr/>
        </p:nvSpPr>
        <p:spPr>
          <a:xfrm>
            <a:off x="6217920" y="1554480"/>
            <a:ext cx="2560320" cy="2926080"/>
          </a:xfrm>
          <a:prstGeom prst="roundRect">
            <a:avLst>
              <a:gd name="adj" fmla="val 4286"/>
            </a:avLst>
          </a:prstGeom>
          <a:solidFill>
            <a:schemeClr val="bg1"/>
          </a:solidFill>
          <a:ln w="22225">
            <a:solidFill>
              <a:schemeClr val="accent1"/>
            </a:solidFill>
            <a:prstDash val="dash"/>
          </a:ln>
        </p:spPr>
      </p:sp>
      <p:sp>
        <p:nvSpPr>
          <p:cNvPr id="16" name="Text 14"/>
          <p:cNvSpPr txBox="1"/>
          <p:nvPr/>
        </p:nvSpPr>
        <p:spPr>
          <a:xfrm>
            <a:off x="6400800" y="1691640"/>
            <a:ext cx="2194560" cy="457200"/>
          </a:xfrm>
          <a:prstGeom prst="rect">
            <a:avLst/>
          </a:prstGeom>
          <a:noFill/>
          <a:ln/>
        </p:spPr>
        <p:txBody>
          <a:bodyPr wrap="square" lIns="0" tIns="0" rIns="0" bIns="0" rtlCol="0" anchor="ctr"/>
          <a:lstStyle/>
          <a:p>
            <a:pPr marL="0" indent="0">
              <a:buNone/>
            </a:pPr>
            <a:r>
              <a:rPr lang="en-US" sz="2200" b="1" dirty="0">
                <a:solidFill>
                  <a:schemeClr val="tx2"/>
                </a:solidFill>
              </a:rPr>
              <a:t>Repository</a:t>
            </a:r>
            <a:endParaRPr lang="en-US" sz="2200" dirty="0"/>
          </a:p>
        </p:txBody>
      </p:sp>
      <p:sp>
        <p:nvSpPr>
          <p:cNvPr id="17" name="Text 15"/>
          <p:cNvSpPr txBox="1"/>
          <p:nvPr/>
        </p:nvSpPr>
        <p:spPr>
          <a:xfrm>
            <a:off x="6400800" y="2194560"/>
            <a:ext cx="2194560" cy="320040"/>
          </a:xfrm>
          <a:prstGeom prst="rect">
            <a:avLst/>
          </a:prstGeom>
          <a:noFill/>
          <a:ln/>
        </p:spPr>
        <p:txBody>
          <a:bodyPr wrap="square" lIns="0" tIns="0" rIns="0" bIns="0" rtlCol="0" anchor="ctr"/>
          <a:lstStyle/>
          <a:p>
            <a:pPr marL="0" indent="0">
              <a:buNone/>
            </a:pPr>
            <a:r>
              <a:rPr lang="en-US" sz="1400" i="1" dirty="0">
                <a:solidFill>
                  <a:schemeClr val="tx2"/>
                </a:solidFill>
              </a:rPr>
              <a:t>Siguiente etapa</a:t>
            </a:r>
            <a:endParaRPr lang="en-US" sz="1400" dirty="0"/>
          </a:p>
        </p:txBody>
      </p:sp>
      <p:sp>
        <p:nvSpPr>
          <p:cNvPr id="18" name="Text 16"/>
          <p:cNvSpPr txBox="1"/>
          <p:nvPr/>
        </p:nvSpPr>
        <p:spPr>
          <a:xfrm>
            <a:off x="6400800" y="2606040"/>
            <a:ext cx="2194560" cy="502920"/>
          </a:xfrm>
          <a:prstGeom prst="rect">
            <a:avLst/>
          </a:prstGeom>
          <a:noFill/>
          <a:ln/>
        </p:spPr>
        <p:txBody>
          <a:bodyPr wrap="square" lIns="0" tIns="0" rIns="0" bIns="0" rtlCol="0" anchor="t"/>
          <a:lstStyle/>
          <a:p>
            <a:pPr marL="0" indent="0">
              <a:buNone/>
            </a:pPr>
            <a:r>
              <a:rPr lang="en-US" sz="1200" dirty="0">
                <a:solidFill>
                  <a:schemeClr val="tx2"/>
                </a:solidFill>
              </a:rPr>
              <a:t>Por implementar</a:t>
            </a:r>
            <a:endParaRPr lang="en-US" sz="1200" dirty="0"/>
          </a:p>
        </p:txBody>
      </p:sp>
      <p:sp>
        <p:nvSpPr>
          <p:cNvPr id="19" name="Text 17"/>
          <p:cNvSpPr txBox="1"/>
          <p:nvPr/>
        </p:nvSpPr>
        <p:spPr>
          <a:xfrm>
            <a:off x="6400800" y="3200400"/>
            <a:ext cx="2194560" cy="1097280"/>
          </a:xfrm>
          <a:prstGeom prst="rect">
            <a:avLst/>
          </a:prstGeom>
          <a:noFill/>
          <a:ln/>
        </p:spPr>
        <p:txBody>
          <a:bodyPr wrap="square" lIns="0" tIns="0" rIns="0" bIns="0" rtlCol="0" anchor="t"/>
          <a:lstStyle/>
          <a:p>
            <a:pPr marL="0" indent="0">
              <a:buNone/>
            </a:pPr>
            <a:r>
              <a:rPr lang="en-US" sz="1500" dirty="0">
                <a:solidFill>
                  <a:schemeClr val="tx2"/>
                </a:solidFill>
              </a:rPr>
              <a:t>Único acceso a los datos.</a:t>
            </a:r>
            <a:endParaRPr lang="en-US" sz="1500" dirty="0"/>
          </a:p>
        </p:txBody>
      </p:sp>
      <p:sp>
        <p:nvSpPr>
          <p:cNvPr id="20" name="Flecha 3"/>
          <p:cNvSpPr/>
          <p:nvPr/>
        </p:nvSpPr>
        <p:spPr>
          <a:xfrm>
            <a:off x="8805672" y="3017520"/>
            <a:ext cx="219456" cy="0"/>
          </a:xfrm>
          <a:prstGeom prst="line">
            <a:avLst/>
          </a:prstGeom>
          <a:noFill/>
          <a:ln w="38100">
            <a:solidFill>
              <a:schemeClr val="accent2"/>
            </a:solidFill>
            <a:prstDash val="solid"/>
            <a:tailEnd type="triangle"/>
          </a:ln>
        </p:spPr>
      </p:sp>
      <p:sp>
        <p:nvSpPr>
          <p:cNvPr id="21" name="Capa Room (DAO)"/>
          <p:cNvSpPr/>
          <p:nvPr/>
        </p:nvSpPr>
        <p:spPr>
          <a:xfrm>
            <a:off x="9052560" y="1554480"/>
            <a:ext cx="2560320" cy="2926080"/>
          </a:xfrm>
          <a:prstGeom prst="roundRect">
            <a:avLst>
              <a:gd name="adj" fmla="val 4286"/>
            </a:avLst>
          </a:prstGeom>
          <a:solidFill>
            <a:schemeClr val="bg1"/>
          </a:solidFill>
          <a:ln w="22225">
            <a:solidFill>
              <a:schemeClr val="accent1"/>
            </a:solidFill>
            <a:prstDash val="dash"/>
          </a:ln>
        </p:spPr>
      </p:sp>
      <p:sp>
        <p:nvSpPr>
          <p:cNvPr id="22" name="Text 20"/>
          <p:cNvSpPr txBox="1"/>
          <p:nvPr/>
        </p:nvSpPr>
        <p:spPr>
          <a:xfrm>
            <a:off x="9235440" y="1691640"/>
            <a:ext cx="2194560" cy="457200"/>
          </a:xfrm>
          <a:prstGeom prst="rect">
            <a:avLst/>
          </a:prstGeom>
          <a:noFill/>
          <a:ln/>
        </p:spPr>
        <p:txBody>
          <a:bodyPr wrap="square" lIns="0" tIns="0" rIns="0" bIns="0" rtlCol="0" anchor="ctr"/>
          <a:lstStyle/>
          <a:p>
            <a:pPr marL="0" indent="0">
              <a:buNone/>
            </a:pPr>
            <a:r>
              <a:rPr lang="en-US" sz="2200" b="1" dirty="0">
                <a:solidFill>
                  <a:schemeClr val="tx2"/>
                </a:solidFill>
              </a:rPr>
              <a:t>Room (DAO)</a:t>
            </a:r>
            <a:endParaRPr lang="en-US" sz="2200" dirty="0"/>
          </a:p>
        </p:txBody>
      </p:sp>
      <p:sp>
        <p:nvSpPr>
          <p:cNvPr id="23" name="Text 21"/>
          <p:cNvSpPr txBox="1"/>
          <p:nvPr/>
        </p:nvSpPr>
        <p:spPr>
          <a:xfrm>
            <a:off x="9235440" y="2194560"/>
            <a:ext cx="2194560" cy="320040"/>
          </a:xfrm>
          <a:prstGeom prst="rect">
            <a:avLst/>
          </a:prstGeom>
          <a:noFill/>
          <a:ln/>
        </p:spPr>
        <p:txBody>
          <a:bodyPr wrap="square" lIns="0" tIns="0" rIns="0" bIns="0" rtlCol="0" anchor="ctr"/>
          <a:lstStyle/>
          <a:p>
            <a:pPr marL="0" indent="0">
              <a:buNone/>
            </a:pPr>
            <a:r>
              <a:rPr lang="en-US" sz="1400" i="1" dirty="0">
                <a:solidFill>
                  <a:schemeClr val="tx2"/>
                </a:solidFill>
              </a:rPr>
              <a:t>Siguiente etapa</a:t>
            </a:r>
            <a:endParaRPr lang="en-US" sz="1400" dirty="0"/>
          </a:p>
        </p:txBody>
      </p:sp>
      <p:sp>
        <p:nvSpPr>
          <p:cNvPr id="24" name="Text 22"/>
          <p:cNvSpPr txBox="1"/>
          <p:nvPr/>
        </p:nvSpPr>
        <p:spPr>
          <a:xfrm>
            <a:off x="9235440" y="2606040"/>
            <a:ext cx="2194560" cy="502920"/>
          </a:xfrm>
          <a:prstGeom prst="rect">
            <a:avLst/>
          </a:prstGeom>
          <a:noFill/>
          <a:ln/>
        </p:spPr>
        <p:txBody>
          <a:bodyPr wrap="square" lIns="0" tIns="0" rIns="0" bIns="0" rtlCol="0" anchor="t"/>
          <a:lstStyle/>
          <a:p>
            <a:pPr marL="0" indent="0">
              <a:buNone/>
            </a:pPr>
            <a:r>
              <a:rPr lang="en-US" sz="1200" dirty="0">
                <a:solidFill>
                  <a:schemeClr val="tx2"/>
                </a:solidFill>
              </a:rPr>
              <a:t>Por implementar</a:t>
            </a:r>
            <a:endParaRPr lang="en-US" sz="1200" dirty="0"/>
          </a:p>
        </p:txBody>
      </p:sp>
      <p:sp>
        <p:nvSpPr>
          <p:cNvPr id="25" name="Text 23"/>
          <p:cNvSpPr txBox="1"/>
          <p:nvPr/>
        </p:nvSpPr>
        <p:spPr>
          <a:xfrm>
            <a:off x="9235440" y="3200400"/>
            <a:ext cx="2194560" cy="1097280"/>
          </a:xfrm>
          <a:prstGeom prst="rect">
            <a:avLst/>
          </a:prstGeom>
          <a:noFill/>
          <a:ln/>
        </p:spPr>
        <p:txBody>
          <a:bodyPr wrap="square" lIns="0" tIns="0" rIns="0" bIns="0" rtlCol="0" anchor="t"/>
          <a:lstStyle/>
          <a:p>
            <a:pPr marL="0" indent="0">
              <a:buNone/>
            </a:pPr>
            <a:r>
              <a:rPr lang="en-US" sz="1500" dirty="0">
                <a:solidFill>
                  <a:schemeClr val="tx2"/>
                </a:solidFill>
              </a:rPr>
              <a:t>Guarda en el dispositivo. Hoy: MockData.</a:t>
            </a:r>
            <a:endParaRPr lang="en-US" sz="1500" dirty="0"/>
          </a:p>
        </p:txBody>
      </p:sp>
      <p:sp>
        <p:nvSpPr>
          <p:cNvPr id="26" name="Analogía fondo"/>
          <p:cNvSpPr/>
          <p:nvPr/>
        </p:nvSpPr>
        <p:spPr>
          <a:xfrm>
            <a:off x="548640" y="4846320"/>
            <a:ext cx="11064240" cy="1280160"/>
          </a:xfrm>
          <a:prstGeom prst="roundRect">
            <a:avLst>
              <a:gd name="adj" fmla="val 8571"/>
            </a:avLst>
          </a:prstGeom>
          <a:solidFill>
            <a:schemeClr val="bg2"/>
          </a:solidFill>
          <a:ln w="12700">
            <a:solidFill>
              <a:schemeClr val="bg2"/>
            </a:solidFill>
            <a:prstDash val="solid"/>
          </a:ln>
        </p:spPr>
      </p:sp>
      <p:sp>
        <p:nvSpPr>
          <p:cNvPr id="27" name="Analogía círculo"/>
          <p:cNvSpPr/>
          <p:nvPr/>
        </p:nvSpPr>
        <p:spPr>
          <a:xfrm>
            <a:off x="868680" y="5120640"/>
            <a:ext cx="731520" cy="731520"/>
          </a:xfrm>
          <a:prstGeom prst="ellipse">
            <a:avLst/>
          </a:prstGeom>
          <a:solidFill>
            <a:schemeClr val="accent2"/>
          </a:solidFill>
          <a:ln w="12700">
            <a:solidFill>
              <a:schemeClr val="accent2"/>
            </a:solidFill>
            <a:prstDash val="solid"/>
          </a:ln>
        </p:spPr>
      </p:sp>
      <p:pic>
        <p:nvPicPr>
          <p:cNvPr id="28" name="Analogía ícono" descr="Analogía"/>
          <p:cNvPicPr>
            <a:picLocks noChangeAspect="1"/>
          </p:cNvPicPr>
          <p:nvPr/>
        </p:nvPicPr>
        <p:blipFill>
          <a:blip r:embed="rId3"/>
          <a:stretch>
            <a:fillRect/>
          </a:stretch>
        </p:blipFill>
        <p:spPr>
          <a:xfrm>
            <a:off x="1044245" y="5296205"/>
            <a:ext cx="380390" cy="380390"/>
          </a:xfrm>
          <a:prstGeom prst="rect">
            <a:avLst/>
          </a:prstGeom>
        </p:spPr>
      </p:pic>
      <p:sp>
        <p:nvSpPr>
          <p:cNvPr id="29" name="Text 26"/>
          <p:cNvSpPr txBox="1"/>
          <p:nvPr/>
        </p:nvSpPr>
        <p:spPr>
          <a:xfrm>
            <a:off x="1874520" y="4846320"/>
            <a:ext cx="9509760" cy="1280160"/>
          </a:xfrm>
          <a:prstGeom prst="rect">
            <a:avLst/>
          </a:prstGeom>
          <a:noFill/>
          <a:ln/>
        </p:spPr>
        <p:txBody>
          <a:bodyPr wrap="square" lIns="0" tIns="0" rIns="0" bIns="0" rtlCol="0" anchor="ctr"/>
          <a:lstStyle/>
          <a:p>
            <a:pPr marL="0" indent="0">
              <a:buNone/>
            </a:pPr>
            <a:r>
              <a:rPr lang="en-US" sz="1800" b="1" dirty="0">
                <a:solidFill>
                  <a:schemeClr val="tx1"/>
                </a:solidFill>
              </a:rPr>
              <a:t>Como en un restaurante: </a:t>
            </a:r>
            <a:r>
              <a:rPr lang="en-US" sz="1800" dirty="0">
                <a:solidFill>
                  <a:schemeClr val="tx1"/>
                </a:solidFill>
              </a:rPr>
              <a:t>la pantalla es el garzón (toma el pedido), el ViewModel es el cocinero (aplica las reglas) y la base de datos es la bodega (guarda todo).</a:t>
            </a:r>
            <a:endParaRPr lang="en-US" sz="1800" dirty="0"/>
          </a:p>
        </p:txBody>
      </p:sp>
      <p:sp>
        <p:nvSpPr>
          <p:cNvPr id="30"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RF-05: registrar una salida o venta, paso a paso</a:t>
            </a:r>
            <a:endParaRPr lang="en-US" sz="3400" dirty="0"/>
          </a:p>
        </p:txBody>
      </p:sp>
      <p:sp>
        <p:nvSpPr>
          <p:cNvPr id="3" name="Paso 1"/>
          <p:cNvSpPr/>
          <p:nvPr/>
        </p:nvSpPr>
        <p:spPr>
          <a:xfrm>
            <a:off x="548640" y="1645920"/>
            <a:ext cx="2011680" cy="3017520"/>
          </a:xfrm>
          <a:prstGeom prst="roundRect">
            <a:avLst>
              <a:gd name="adj" fmla="val 5455"/>
            </a:avLst>
          </a:prstGeom>
          <a:solidFill>
            <a:schemeClr val="bg2"/>
          </a:solidFill>
          <a:ln w="12700">
            <a:solidFill>
              <a:schemeClr val="bg2"/>
            </a:solidFill>
            <a:prstDash val="solid"/>
          </a:ln>
        </p:spPr>
      </p:sp>
      <p:sp>
        <p:nvSpPr>
          <p:cNvPr id="4" name="Número paso 1"/>
          <p:cNvSpPr/>
          <p:nvPr/>
        </p:nvSpPr>
        <p:spPr>
          <a:xfrm>
            <a:off x="1188720" y="1874520"/>
            <a:ext cx="731520" cy="731520"/>
          </a:xfrm>
          <a:prstGeom prst="ellipse">
            <a:avLst/>
          </a:prstGeom>
          <a:solidFill>
            <a:schemeClr val="accent1"/>
          </a:solidFill>
          <a:ln w="12700">
            <a:solidFill>
              <a:schemeClr val="bg2"/>
            </a:solidFill>
            <a:prstDash val="solid"/>
          </a:ln>
        </p:spPr>
      </p:sp>
      <p:sp>
        <p:nvSpPr>
          <p:cNvPr id="5" name="Text 3"/>
          <p:cNvSpPr txBox="1"/>
          <p:nvPr/>
        </p:nvSpPr>
        <p:spPr>
          <a:xfrm>
            <a:off x="1188720" y="187452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1</a:t>
            </a:r>
            <a:endParaRPr lang="en-US" sz="2800" dirty="0"/>
          </a:p>
        </p:txBody>
      </p:sp>
      <p:sp>
        <p:nvSpPr>
          <p:cNvPr id="6" name="Text 4"/>
          <p:cNvSpPr txBox="1"/>
          <p:nvPr/>
        </p:nvSpPr>
        <p:spPr>
          <a:xfrm>
            <a:off x="685800" y="2788920"/>
            <a:ext cx="1737360" cy="457200"/>
          </a:xfrm>
          <a:prstGeom prst="rect">
            <a:avLst/>
          </a:prstGeom>
          <a:noFill/>
          <a:ln/>
        </p:spPr>
        <p:txBody>
          <a:bodyPr wrap="square" lIns="0" tIns="0" rIns="0" bIns="0" rtlCol="0" anchor="ctr"/>
          <a:lstStyle/>
          <a:p>
            <a:pPr marL="0" indent="0" algn="ctr">
              <a:buNone/>
            </a:pPr>
            <a:r>
              <a:rPr lang="en-US" sz="1800" b="1" dirty="0">
                <a:solidFill>
                  <a:schemeClr val="tx2"/>
                </a:solidFill>
              </a:rPr>
              <a:t>Elegir producto</a:t>
            </a:r>
            <a:endParaRPr lang="en-US" sz="1800" dirty="0"/>
          </a:p>
        </p:txBody>
      </p:sp>
      <p:sp>
        <p:nvSpPr>
          <p:cNvPr id="7" name="Text 5"/>
          <p:cNvSpPr txBox="1"/>
          <p:nvPr/>
        </p:nvSpPr>
        <p:spPr>
          <a:xfrm>
            <a:off x="685800" y="3291840"/>
            <a:ext cx="1737360" cy="1234440"/>
          </a:xfrm>
          <a:prstGeom prst="rect">
            <a:avLst/>
          </a:prstGeom>
          <a:noFill/>
          <a:ln/>
        </p:spPr>
        <p:txBody>
          <a:bodyPr wrap="square" lIns="0" tIns="0" rIns="0" bIns="0" rtlCol="0" anchor="t"/>
          <a:lstStyle/>
          <a:p>
            <a:pPr marL="0" indent="0" algn="ctr">
              <a:buNone/>
            </a:pPr>
            <a:r>
              <a:rPr lang="en-US" sz="1600" dirty="0">
                <a:solidFill>
                  <a:schemeClr val="tx1"/>
                </a:solidFill>
              </a:rPr>
              <a:t>Del listado, o ya viene elegido desde el detalle.</a:t>
            </a:r>
            <a:endParaRPr lang="en-US" sz="1600" dirty="0"/>
          </a:p>
        </p:txBody>
      </p:sp>
      <p:sp>
        <p:nvSpPr>
          <p:cNvPr id="8" name="Paso 2"/>
          <p:cNvSpPr/>
          <p:nvPr/>
        </p:nvSpPr>
        <p:spPr>
          <a:xfrm>
            <a:off x="2788920" y="1645920"/>
            <a:ext cx="2011680" cy="3017520"/>
          </a:xfrm>
          <a:prstGeom prst="roundRect">
            <a:avLst>
              <a:gd name="adj" fmla="val 5455"/>
            </a:avLst>
          </a:prstGeom>
          <a:solidFill>
            <a:schemeClr val="bg2"/>
          </a:solidFill>
          <a:ln w="12700">
            <a:solidFill>
              <a:schemeClr val="bg2"/>
            </a:solidFill>
            <a:prstDash val="solid"/>
          </a:ln>
        </p:spPr>
      </p:sp>
      <p:sp>
        <p:nvSpPr>
          <p:cNvPr id="9" name="Número paso 2"/>
          <p:cNvSpPr/>
          <p:nvPr/>
        </p:nvSpPr>
        <p:spPr>
          <a:xfrm>
            <a:off x="3429000" y="1874520"/>
            <a:ext cx="731520" cy="731520"/>
          </a:xfrm>
          <a:prstGeom prst="ellipse">
            <a:avLst/>
          </a:prstGeom>
          <a:solidFill>
            <a:schemeClr val="accent1"/>
          </a:solidFill>
          <a:ln w="12700">
            <a:solidFill>
              <a:schemeClr val="bg2"/>
            </a:solidFill>
            <a:prstDash val="solid"/>
          </a:ln>
        </p:spPr>
      </p:sp>
      <p:sp>
        <p:nvSpPr>
          <p:cNvPr id="10" name="Text 8"/>
          <p:cNvSpPr txBox="1"/>
          <p:nvPr/>
        </p:nvSpPr>
        <p:spPr>
          <a:xfrm>
            <a:off x="3429000" y="187452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2</a:t>
            </a:r>
            <a:endParaRPr lang="en-US" sz="2800" dirty="0"/>
          </a:p>
        </p:txBody>
      </p:sp>
      <p:sp>
        <p:nvSpPr>
          <p:cNvPr id="11" name="Text 9"/>
          <p:cNvSpPr txBox="1"/>
          <p:nvPr/>
        </p:nvSpPr>
        <p:spPr>
          <a:xfrm>
            <a:off x="2926080" y="2788920"/>
            <a:ext cx="1737360" cy="457200"/>
          </a:xfrm>
          <a:prstGeom prst="rect">
            <a:avLst/>
          </a:prstGeom>
          <a:noFill/>
          <a:ln/>
        </p:spPr>
        <p:txBody>
          <a:bodyPr wrap="square" lIns="0" tIns="0" rIns="0" bIns="0" rtlCol="0" anchor="ctr"/>
          <a:lstStyle/>
          <a:p>
            <a:pPr marL="0" indent="0" algn="ctr">
              <a:buNone/>
            </a:pPr>
            <a:r>
              <a:rPr lang="en-US" sz="1800" b="1" dirty="0">
                <a:solidFill>
                  <a:schemeClr val="tx2"/>
                </a:solidFill>
              </a:rPr>
              <a:t>Marcar «Salida»</a:t>
            </a:r>
            <a:endParaRPr lang="en-US" sz="1800" dirty="0"/>
          </a:p>
        </p:txBody>
      </p:sp>
      <p:sp>
        <p:nvSpPr>
          <p:cNvPr id="12" name="Text 10"/>
          <p:cNvSpPr txBox="1"/>
          <p:nvPr/>
        </p:nvSpPr>
        <p:spPr>
          <a:xfrm>
            <a:off x="2926080" y="3291840"/>
            <a:ext cx="1737360" cy="1234440"/>
          </a:xfrm>
          <a:prstGeom prst="rect">
            <a:avLst/>
          </a:prstGeom>
          <a:noFill/>
          <a:ln/>
        </p:spPr>
        <p:txBody>
          <a:bodyPr wrap="square" lIns="0" tIns="0" rIns="0" bIns="0" rtlCol="0" anchor="t"/>
          <a:lstStyle/>
          <a:p>
            <a:pPr marL="0" indent="0" algn="ctr">
              <a:buNone/>
            </a:pPr>
            <a:r>
              <a:rPr lang="en-US" sz="1600" dirty="0">
                <a:solidFill>
                  <a:schemeClr val="tx1"/>
                </a:solidFill>
              </a:rPr>
              <a:t>Aparece la lista «Motivo de la salida».</a:t>
            </a:r>
            <a:endParaRPr lang="en-US" sz="1600" dirty="0"/>
          </a:p>
        </p:txBody>
      </p:sp>
      <p:sp>
        <p:nvSpPr>
          <p:cNvPr id="13" name="Paso 3"/>
          <p:cNvSpPr/>
          <p:nvPr/>
        </p:nvSpPr>
        <p:spPr>
          <a:xfrm>
            <a:off x="5029200" y="1645920"/>
            <a:ext cx="2011680" cy="3017520"/>
          </a:xfrm>
          <a:prstGeom prst="roundRect">
            <a:avLst>
              <a:gd name="adj" fmla="val 5455"/>
            </a:avLst>
          </a:prstGeom>
          <a:solidFill>
            <a:schemeClr val="bg2"/>
          </a:solidFill>
          <a:ln w="12700">
            <a:solidFill>
              <a:schemeClr val="bg2"/>
            </a:solidFill>
            <a:prstDash val="solid"/>
          </a:ln>
        </p:spPr>
      </p:sp>
      <p:sp>
        <p:nvSpPr>
          <p:cNvPr id="14" name="Número paso 3"/>
          <p:cNvSpPr/>
          <p:nvPr/>
        </p:nvSpPr>
        <p:spPr>
          <a:xfrm>
            <a:off x="5669280" y="1874520"/>
            <a:ext cx="731520" cy="731520"/>
          </a:xfrm>
          <a:prstGeom prst="ellipse">
            <a:avLst/>
          </a:prstGeom>
          <a:solidFill>
            <a:schemeClr val="accent1"/>
          </a:solidFill>
          <a:ln w="12700">
            <a:solidFill>
              <a:schemeClr val="bg2"/>
            </a:solidFill>
            <a:prstDash val="solid"/>
          </a:ln>
        </p:spPr>
      </p:sp>
      <p:sp>
        <p:nvSpPr>
          <p:cNvPr id="15" name="Text 13"/>
          <p:cNvSpPr txBox="1"/>
          <p:nvPr/>
        </p:nvSpPr>
        <p:spPr>
          <a:xfrm>
            <a:off x="5669280" y="187452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3</a:t>
            </a:r>
            <a:endParaRPr lang="en-US" sz="2800" dirty="0"/>
          </a:p>
        </p:txBody>
      </p:sp>
      <p:sp>
        <p:nvSpPr>
          <p:cNvPr id="16" name="Text 14"/>
          <p:cNvSpPr txBox="1"/>
          <p:nvPr/>
        </p:nvSpPr>
        <p:spPr>
          <a:xfrm>
            <a:off x="5166360" y="2788920"/>
            <a:ext cx="1737360" cy="457200"/>
          </a:xfrm>
          <a:prstGeom prst="rect">
            <a:avLst/>
          </a:prstGeom>
          <a:noFill/>
          <a:ln/>
        </p:spPr>
        <p:txBody>
          <a:bodyPr wrap="square" lIns="0" tIns="0" rIns="0" bIns="0" rtlCol="0" anchor="ctr"/>
          <a:lstStyle/>
          <a:p>
            <a:pPr marL="0" indent="0" algn="ctr">
              <a:buNone/>
            </a:pPr>
            <a:r>
              <a:rPr lang="en-US" sz="1800" b="1" dirty="0">
                <a:solidFill>
                  <a:schemeClr val="tx2"/>
                </a:solidFill>
              </a:rPr>
              <a:t>Escribir cantidad</a:t>
            </a:r>
            <a:endParaRPr lang="en-US" sz="1800" dirty="0"/>
          </a:p>
        </p:txBody>
      </p:sp>
      <p:sp>
        <p:nvSpPr>
          <p:cNvPr id="17" name="Text 15"/>
          <p:cNvSpPr txBox="1"/>
          <p:nvPr/>
        </p:nvSpPr>
        <p:spPr>
          <a:xfrm>
            <a:off x="5166360" y="3291840"/>
            <a:ext cx="1737360" cy="1234440"/>
          </a:xfrm>
          <a:prstGeom prst="rect">
            <a:avLst/>
          </a:prstGeom>
          <a:noFill/>
          <a:ln/>
        </p:spPr>
        <p:txBody>
          <a:bodyPr wrap="square" lIns="0" tIns="0" rIns="0" bIns="0" rtlCol="0" anchor="t"/>
          <a:lstStyle/>
          <a:p>
            <a:pPr marL="0" indent="0" algn="ctr">
              <a:buNone/>
            </a:pPr>
            <a:r>
              <a:rPr lang="en-US" sz="1600" dirty="0">
                <a:solidFill>
                  <a:schemeClr val="tx1"/>
                </a:solidFill>
              </a:rPr>
              <a:t>Un número entero mayor que 0.</a:t>
            </a:r>
            <a:endParaRPr lang="en-US" sz="1600" dirty="0"/>
          </a:p>
        </p:txBody>
      </p:sp>
      <p:sp>
        <p:nvSpPr>
          <p:cNvPr id="18" name="Paso 4"/>
          <p:cNvSpPr/>
          <p:nvPr/>
        </p:nvSpPr>
        <p:spPr>
          <a:xfrm>
            <a:off x="7269480" y="1645920"/>
            <a:ext cx="2011680" cy="3017520"/>
          </a:xfrm>
          <a:prstGeom prst="roundRect">
            <a:avLst>
              <a:gd name="adj" fmla="val 5455"/>
            </a:avLst>
          </a:prstGeom>
          <a:solidFill>
            <a:schemeClr val="bg2"/>
          </a:solidFill>
          <a:ln w="12700">
            <a:solidFill>
              <a:schemeClr val="bg2"/>
            </a:solidFill>
            <a:prstDash val="solid"/>
          </a:ln>
        </p:spPr>
      </p:sp>
      <p:sp>
        <p:nvSpPr>
          <p:cNvPr id="19" name="Número paso 4"/>
          <p:cNvSpPr/>
          <p:nvPr/>
        </p:nvSpPr>
        <p:spPr>
          <a:xfrm>
            <a:off x="7909560" y="1874520"/>
            <a:ext cx="731520" cy="731520"/>
          </a:xfrm>
          <a:prstGeom prst="ellipse">
            <a:avLst/>
          </a:prstGeom>
          <a:solidFill>
            <a:schemeClr val="accent2"/>
          </a:solidFill>
          <a:ln w="12700">
            <a:solidFill>
              <a:schemeClr val="bg2"/>
            </a:solidFill>
            <a:prstDash val="solid"/>
          </a:ln>
        </p:spPr>
      </p:sp>
      <p:sp>
        <p:nvSpPr>
          <p:cNvPr id="20" name="Text 18"/>
          <p:cNvSpPr txBox="1"/>
          <p:nvPr/>
        </p:nvSpPr>
        <p:spPr>
          <a:xfrm>
            <a:off x="7909560" y="187452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4</a:t>
            </a:r>
            <a:endParaRPr lang="en-US" sz="2800" dirty="0"/>
          </a:p>
        </p:txBody>
      </p:sp>
      <p:sp>
        <p:nvSpPr>
          <p:cNvPr id="21" name="Text 19"/>
          <p:cNvSpPr txBox="1"/>
          <p:nvPr/>
        </p:nvSpPr>
        <p:spPr>
          <a:xfrm>
            <a:off x="7406640" y="2788920"/>
            <a:ext cx="1737360" cy="457200"/>
          </a:xfrm>
          <a:prstGeom prst="rect">
            <a:avLst/>
          </a:prstGeom>
          <a:noFill/>
          <a:ln/>
        </p:spPr>
        <p:txBody>
          <a:bodyPr wrap="square" lIns="0" tIns="0" rIns="0" bIns="0" rtlCol="0" anchor="ctr"/>
          <a:lstStyle/>
          <a:p>
            <a:pPr marL="0" indent="0" algn="ctr">
              <a:buNone/>
            </a:pPr>
            <a:r>
              <a:rPr lang="en-US" sz="1800" b="1" dirty="0">
                <a:solidFill>
                  <a:schemeClr val="tx2"/>
                </a:solidFill>
              </a:rPr>
              <a:t>Validar</a:t>
            </a:r>
            <a:endParaRPr lang="en-US" sz="1800" dirty="0"/>
          </a:p>
        </p:txBody>
      </p:sp>
      <p:sp>
        <p:nvSpPr>
          <p:cNvPr id="22" name="Text 20"/>
          <p:cNvSpPr txBox="1"/>
          <p:nvPr/>
        </p:nvSpPr>
        <p:spPr>
          <a:xfrm>
            <a:off x="7406640" y="3291840"/>
            <a:ext cx="1737360" cy="1234440"/>
          </a:xfrm>
          <a:prstGeom prst="rect">
            <a:avLst/>
          </a:prstGeom>
          <a:noFill/>
          <a:ln/>
        </p:spPr>
        <p:txBody>
          <a:bodyPr wrap="square" lIns="0" tIns="0" rIns="0" bIns="0" rtlCol="0" anchor="t"/>
          <a:lstStyle/>
          <a:p>
            <a:pPr marL="0" indent="0" algn="ctr">
              <a:buNone/>
            </a:pPr>
            <a:r>
              <a:rPr lang="en-US" sz="1600" dirty="0">
                <a:solidFill>
                  <a:schemeClr val="tx1"/>
                </a:solidFill>
              </a:rPr>
              <a:t>Revisa cada campo y marca los errores bajo él.</a:t>
            </a:r>
            <a:endParaRPr lang="en-US" sz="1600" dirty="0"/>
          </a:p>
        </p:txBody>
      </p:sp>
      <p:sp>
        <p:nvSpPr>
          <p:cNvPr id="23" name="Paso 5"/>
          <p:cNvSpPr/>
          <p:nvPr/>
        </p:nvSpPr>
        <p:spPr>
          <a:xfrm>
            <a:off x="9509760" y="1645920"/>
            <a:ext cx="2011680" cy="3017520"/>
          </a:xfrm>
          <a:prstGeom prst="roundRect">
            <a:avLst>
              <a:gd name="adj" fmla="val 5455"/>
            </a:avLst>
          </a:prstGeom>
          <a:solidFill>
            <a:schemeClr val="bg2"/>
          </a:solidFill>
          <a:ln w="12700">
            <a:solidFill>
              <a:schemeClr val="bg2"/>
            </a:solidFill>
            <a:prstDash val="solid"/>
          </a:ln>
        </p:spPr>
      </p:sp>
      <p:sp>
        <p:nvSpPr>
          <p:cNvPr id="24" name="Número paso 5"/>
          <p:cNvSpPr/>
          <p:nvPr/>
        </p:nvSpPr>
        <p:spPr>
          <a:xfrm>
            <a:off x="10149840" y="1874520"/>
            <a:ext cx="731520" cy="731520"/>
          </a:xfrm>
          <a:prstGeom prst="ellipse">
            <a:avLst/>
          </a:prstGeom>
          <a:solidFill>
            <a:schemeClr val="accent2"/>
          </a:solidFill>
          <a:ln w="12700">
            <a:solidFill>
              <a:schemeClr val="bg2"/>
            </a:solidFill>
            <a:prstDash val="solid"/>
          </a:ln>
        </p:spPr>
      </p:sp>
      <p:sp>
        <p:nvSpPr>
          <p:cNvPr id="25" name="Text 23"/>
          <p:cNvSpPr txBox="1"/>
          <p:nvPr/>
        </p:nvSpPr>
        <p:spPr>
          <a:xfrm>
            <a:off x="10149840" y="187452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5</a:t>
            </a:r>
            <a:endParaRPr lang="en-US" sz="2800" dirty="0"/>
          </a:p>
        </p:txBody>
      </p:sp>
      <p:sp>
        <p:nvSpPr>
          <p:cNvPr id="26" name="Text 24"/>
          <p:cNvSpPr txBox="1"/>
          <p:nvPr/>
        </p:nvSpPr>
        <p:spPr>
          <a:xfrm>
            <a:off x="9646920" y="2788920"/>
            <a:ext cx="1737360" cy="457200"/>
          </a:xfrm>
          <a:prstGeom prst="rect">
            <a:avLst/>
          </a:prstGeom>
          <a:noFill/>
          <a:ln/>
        </p:spPr>
        <p:txBody>
          <a:bodyPr wrap="square" lIns="0" tIns="0" rIns="0" bIns="0" rtlCol="0" anchor="ctr"/>
          <a:lstStyle/>
          <a:p>
            <a:pPr marL="0" indent="0" algn="ctr">
              <a:buNone/>
            </a:pPr>
            <a:r>
              <a:rPr lang="en-US" sz="1800" b="1" dirty="0">
                <a:solidFill>
                  <a:schemeClr val="tx2"/>
                </a:solidFill>
              </a:rPr>
              <a:t>Registrar</a:t>
            </a:r>
            <a:endParaRPr lang="en-US" sz="1800" dirty="0"/>
          </a:p>
        </p:txBody>
      </p:sp>
      <p:sp>
        <p:nvSpPr>
          <p:cNvPr id="27" name="Text 25"/>
          <p:cNvSpPr txBox="1"/>
          <p:nvPr/>
        </p:nvSpPr>
        <p:spPr>
          <a:xfrm>
            <a:off x="9646920" y="3291840"/>
            <a:ext cx="1737360" cy="1234440"/>
          </a:xfrm>
          <a:prstGeom prst="rect">
            <a:avLst/>
          </a:prstGeom>
          <a:noFill/>
          <a:ln/>
        </p:spPr>
        <p:txBody>
          <a:bodyPr wrap="square" lIns="0" tIns="0" rIns="0" bIns="0" rtlCol="0" anchor="t"/>
          <a:lstStyle/>
          <a:p>
            <a:pPr marL="0" indent="0" algn="ctr">
              <a:buNone/>
            </a:pPr>
            <a:r>
              <a:rPr lang="en-US" sz="1600" dirty="0">
                <a:solidFill>
                  <a:schemeClr val="tx1"/>
                </a:solidFill>
              </a:rPr>
              <a:t>Crea el movimiento y resta el stock.</a:t>
            </a:r>
            <a:endParaRPr lang="en-US" sz="1600" dirty="0"/>
          </a:p>
        </p:txBody>
      </p:sp>
      <p:sp>
        <p:nvSpPr>
          <p:cNvPr id="28" name="Automático fondo"/>
          <p:cNvSpPr/>
          <p:nvPr/>
        </p:nvSpPr>
        <p:spPr>
          <a:xfrm>
            <a:off x="548640" y="5029200"/>
            <a:ext cx="11064240" cy="1005840"/>
          </a:xfrm>
          <a:prstGeom prst="roundRect">
            <a:avLst>
              <a:gd name="adj" fmla="val 10909"/>
            </a:avLst>
          </a:prstGeom>
          <a:solidFill>
            <a:schemeClr val="tx2"/>
          </a:solidFill>
          <a:ln w="12700">
            <a:solidFill>
              <a:schemeClr val="tx2"/>
            </a:solidFill>
            <a:prstDash val="solid"/>
          </a:ln>
        </p:spPr>
      </p:sp>
      <p:sp>
        <p:nvSpPr>
          <p:cNvPr id="29" name="Text 27"/>
          <p:cNvSpPr txBox="1"/>
          <p:nvPr/>
        </p:nvSpPr>
        <p:spPr>
          <a:xfrm>
            <a:off x="868680" y="5029200"/>
            <a:ext cx="10424160" cy="1005840"/>
          </a:xfrm>
          <a:prstGeom prst="rect">
            <a:avLst/>
          </a:prstGeom>
          <a:noFill/>
          <a:ln/>
        </p:spPr>
        <p:txBody>
          <a:bodyPr wrap="square" lIns="0" tIns="0" rIns="0" bIns="0" rtlCol="0" anchor="ctr"/>
          <a:lstStyle/>
          <a:p>
            <a:pPr marL="0" indent="0">
              <a:buNone/>
            </a:pPr>
            <a:r>
              <a:rPr lang="en-US" sz="1800" b="1" dirty="0">
                <a:solidFill>
                  <a:schemeClr val="bg1"/>
                </a:solidFill>
              </a:rPr>
              <a:t>Se asignan solos: el responsable (usuario con sesión iniciada) y la fecha y hora actuales. Nadie los escribe a mano.</a:t>
            </a:r>
            <a:endParaRPr lang="en-US" sz="1800" dirty="0"/>
          </a:p>
        </p:txBody>
      </p:sp>
      <p:sp>
        <p:nvSpPr>
          <p:cNvPr id="30"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Validaciones del formulario de movimiento</a:t>
            </a:r>
            <a:endParaRPr lang="en-US" sz="3400" dirty="0"/>
          </a:p>
        </p:txBody>
      </p:sp>
      <p:graphicFrame>
        <p:nvGraphicFramePr>
          <p:cNvPr id="8" name="Tabla validaciones"/>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3401568"/>
        </p:xfrm>
        <a:graphic>
          <a:graphicData uri="http://schemas.openxmlformats.org/drawingml/2006/table">
            <a:tbl>
              <a:tblPr/>
              <a:tblGrid>
                <a:gridCol w="26517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566928">
                <a:tc>
                  <a:txBody>
                    <a:bodyPr/>
                    <a:lstStyle/>
                    <a:p>
                      <a:pPr marL="0" indent="0">
                        <a:buNone/>
                      </a:pPr>
                      <a:r>
                        <a:rPr lang="en-US" sz="1600" b="1" dirty="0">
                          <a:solidFill>
                            <a:schemeClr val="bg1"/>
                          </a:solidFill>
                        </a:rPr>
                        <a:t>Campo</a:t>
                      </a:r>
                      <a:endParaRPr lang="en-US" sz="16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600" b="1" dirty="0">
                          <a:solidFill>
                            <a:schemeClr val="bg1"/>
                          </a:solidFill>
                        </a:rPr>
                        <a:t>Regla</a:t>
                      </a:r>
                      <a:endParaRPr lang="en-US" sz="16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600" b="1" dirty="0">
                          <a:solidFill>
                            <a:schemeClr val="bg1"/>
                          </a:solidFill>
                        </a:rPr>
                        <a:t>Mensaje que ve el usuario</a:t>
                      </a:r>
                      <a:endParaRPr lang="en-US" sz="16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66928">
                <a:tc>
                  <a:txBody>
                    <a:bodyPr/>
                    <a:lstStyle/>
                    <a:p>
                      <a:pPr marL="0" indent="0">
                        <a:buNone/>
                      </a:pPr>
                      <a:r>
                        <a:rPr lang="en-US" sz="1500" dirty="0">
                          <a:solidFill>
                            <a:schemeClr val="tx1"/>
                          </a:solidFill>
                        </a:rPr>
                        <a:t>Producto</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Debe estar elegido</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Elige un producto</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66928">
                <a:tc>
                  <a:txBody>
                    <a:bodyPr/>
                    <a:lstStyle/>
                    <a:p>
                      <a:pPr marL="0" indent="0">
                        <a:buNone/>
                      </a:pPr>
                      <a:r>
                        <a:rPr lang="en-US" sz="1500" dirty="0">
                          <a:solidFill>
                            <a:schemeClr val="tx1"/>
                          </a:solidFill>
                        </a:rPr>
                        <a:t>Cantidad</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Entero mayor que 0</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Ingresa una cantidad mayor que 0</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66928">
                <a:tc>
                  <a:txBody>
                    <a:bodyPr/>
                    <a:lstStyle/>
                    <a:p>
                      <a:pPr marL="0" indent="0">
                        <a:buNone/>
                      </a:pPr>
                      <a:r>
                        <a:rPr lang="en-US" sz="1500" dirty="0">
                          <a:solidFill>
                            <a:schemeClr val="tx1"/>
                          </a:solidFill>
                        </a:rPr>
                        <a:t>Cantidad (salida)</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No supera lo disponible (RN-03)</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Solo hay N disponibles</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66928">
                <a:tc>
                  <a:txBody>
                    <a:bodyPr/>
                    <a:lstStyle/>
                    <a:p>
                      <a:pPr marL="0" indent="0">
                        <a:buNone/>
                      </a:pPr>
                      <a:r>
                        <a:rPr lang="en-US" sz="1500" dirty="0">
                          <a:solidFill>
                            <a:schemeClr val="tx1"/>
                          </a:solidFill>
                        </a:rPr>
                        <a:t>Motivo (salida)</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Obligatorio (RN-02)</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Elige el motivo de la salida</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566928">
                <a:tc>
                  <a:txBody>
                    <a:bodyPr/>
                    <a:lstStyle/>
                    <a:p>
                      <a:pPr marL="0" indent="0">
                        <a:buNone/>
                      </a:pPr>
                      <a:r>
                        <a:rPr lang="en-US" sz="1500" dirty="0">
                          <a:solidFill>
                            <a:schemeClr val="tx1"/>
                          </a:solidFill>
                        </a:rPr>
                        <a:t>Motivo «Venta»</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Producto no vencido ni dado de baja</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No se puede vender un producto vencido</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4" name="Nota validación fondo"/>
          <p:cNvSpPr/>
          <p:nvPr/>
        </p:nvSpPr>
        <p:spPr>
          <a:xfrm>
            <a:off x="548640" y="5166360"/>
            <a:ext cx="11064240" cy="914400"/>
          </a:xfrm>
          <a:prstGeom prst="roundRect">
            <a:avLst>
              <a:gd name="adj" fmla="val 12000"/>
            </a:avLst>
          </a:prstGeom>
          <a:solidFill>
            <a:schemeClr val="bg2"/>
          </a:solidFill>
          <a:ln w="12700">
            <a:solidFill>
              <a:schemeClr val="bg2"/>
            </a:solidFill>
            <a:prstDash val="solid"/>
          </a:ln>
        </p:spPr>
      </p:sp>
      <p:sp>
        <p:nvSpPr>
          <p:cNvPr id="5" name="Text 2"/>
          <p:cNvSpPr txBox="1"/>
          <p:nvPr/>
        </p:nvSpPr>
        <p:spPr>
          <a:xfrm>
            <a:off x="868680" y="5166360"/>
            <a:ext cx="10424160" cy="914400"/>
          </a:xfrm>
          <a:prstGeom prst="rect">
            <a:avLst/>
          </a:prstGeom>
          <a:noFill/>
          <a:ln/>
        </p:spPr>
        <p:txBody>
          <a:bodyPr wrap="square" lIns="0" tIns="0" rIns="0" bIns="0" rtlCol="0" anchor="ctr"/>
          <a:lstStyle/>
          <a:p>
            <a:pPr marL="0" indent="0">
              <a:buNone/>
            </a:pPr>
            <a:r>
              <a:rPr lang="en-US" sz="1800" b="1" dirty="0">
                <a:solidFill>
                  <a:schemeClr val="tx1"/>
                </a:solidFill>
              </a:rPr>
              <a:t>Las reglas viven en el ViewModel, no en la pantalla. </a:t>
            </a:r>
            <a:r>
              <a:rPr lang="en-US" sz="1800" dirty="0">
                <a:solidFill>
                  <a:schemeClr val="tx1"/>
                </a:solidFill>
              </a:rPr>
              <a:t>La pantalla solo muestra el error bajo el campo.</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El stock se actualiza solo y nunca queda negativo</a:t>
            </a:r>
            <a:endParaRPr lang="en-US" sz="3400" dirty="0"/>
          </a:p>
        </p:txBody>
      </p:sp>
      <p:sp>
        <p:nvSpPr>
          <p:cNvPr id="3" name="Ejemplo fondo"/>
          <p:cNvSpPr/>
          <p:nvPr/>
        </p:nvSpPr>
        <p:spPr>
          <a:xfrm>
            <a:off x="548640" y="1463040"/>
            <a:ext cx="4480560" cy="4663440"/>
          </a:xfrm>
          <a:prstGeom prst="roundRect">
            <a:avLst>
              <a:gd name="adj" fmla="val 2449"/>
            </a:avLst>
          </a:prstGeom>
          <a:solidFill>
            <a:schemeClr val="tx2"/>
          </a:solidFill>
          <a:ln w="12700">
            <a:solidFill>
              <a:schemeClr val="tx2"/>
            </a:solidFill>
            <a:prstDash val="solid"/>
          </a:ln>
        </p:spPr>
      </p:sp>
      <p:sp>
        <p:nvSpPr>
          <p:cNvPr id="4" name="Text 2"/>
          <p:cNvSpPr txBox="1"/>
          <p:nvPr/>
        </p:nvSpPr>
        <p:spPr>
          <a:xfrm>
            <a:off x="868680" y="1737360"/>
            <a:ext cx="3840480" cy="365760"/>
          </a:xfrm>
          <a:prstGeom prst="rect">
            <a:avLst/>
          </a:prstGeom>
          <a:noFill/>
          <a:ln/>
        </p:spPr>
        <p:txBody>
          <a:bodyPr wrap="square" lIns="0" tIns="0" rIns="0" bIns="0" rtlCol="0" anchor="ctr"/>
          <a:lstStyle/>
          <a:p>
            <a:pPr marL="0" indent="0">
              <a:buNone/>
            </a:pPr>
            <a:r>
              <a:rPr lang="en-US" sz="1600" dirty="0">
                <a:solidFill>
                  <a:schemeClr val="bg2"/>
                </a:solidFill>
              </a:rPr>
              <a:t>Ejemplo</a:t>
            </a:r>
            <a:endParaRPr lang="en-US" sz="1600" dirty="0"/>
          </a:p>
        </p:txBody>
      </p:sp>
      <p:sp>
        <p:nvSpPr>
          <p:cNvPr id="5" name="Text 3"/>
          <p:cNvSpPr txBox="1"/>
          <p:nvPr/>
        </p:nvSpPr>
        <p:spPr>
          <a:xfrm>
            <a:off x="868680" y="2286000"/>
            <a:ext cx="3840480" cy="1188720"/>
          </a:xfrm>
          <a:prstGeom prst="rect">
            <a:avLst/>
          </a:prstGeom>
          <a:noFill/>
          <a:ln/>
        </p:spPr>
        <p:txBody>
          <a:bodyPr wrap="square" lIns="0" tIns="0" rIns="0" bIns="0" rtlCol="0" anchor="ctr"/>
          <a:lstStyle/>
          <a:p>
            <a:pPr marL="0" indent="0">
              <a:buNone/>
            </a:pPr>
            <a:r>
              <a:rPr lang="en-US" sz="6000" b="1" dirty="0">
                <a:solidFill>
                  <a:schemeClr val="bg1"/>
                </a:solidFill>
              </a:rPr>
              <a:t>40 → 35</a:t>
            </a:r>
            <a:endParaRPr lang="en-US" sz="6000" dirty="0"/>
          </a:p>
        </p:txBody>
      </p:sp>
      <p:sp>
        <p:nvSpPr>
          <p:cNvPr id="6" name="Text 4"/>
          <p:cNvSpPr txBox="1"/>
          <p:nvPr/>
        </p:nvSpPr>
        <p:spPr>
          <a:xfrm>
            <a:off x="868680" y="3657600"/>
            <a:ext cx="3840480" cy="914400"/>
          </a:xfrm>
          <a:prstGeom prst="rect">
            <a:avLst/>
          </a:prstGeom>
          <a:noFill/>
          <a:ln/>
        </p:spPr>
        <p:txBody>
          <a:bodyPr wrap="square" lIns="0" tIns="0" rIns="0" bIns="0" rtlCol="0" anchor="t"/>
          <a:lstStyle/>
          <a:p>
            <a:pPr marL="0" indent="0">
              <a:buNone/>
            </a:pPr>
            <a:r>
              <a:rPr lang="en-US" sz="1800" dirty="0">
                <a:solidFill>
                  <a:schemeClr val="bg1"/>
                </a:solidFill>
              </a:rPr>
              <a:t>Gasa estéril: salida de 5 unidades con motivo Venta</a:t>
            </a:r>
            <a:endParaRPr lang="en-US" sz="1800" dirty="0"/>
          </a:p>
        </p:txBody>
      </p:sp>
      <p:sp>
        <p:nvSpPr>
          <p:cNvPr id="7" name="Text 5"/>
          <p:cNvSpPr txBox="1"/>
          <p:nvPr/>
        </p:nvSpPr>
        <p:spPr>
          <a:xfrm>
            <a:off x="868680" y="4754880"/>
            <a:ext cx="3840480" cy="1005840"/>
          </a:xfrm>
          <a:prstGeom prst="rect">
            <a:avLst/>
          </a:prstGeom>
          <a:noFill/>
          <a:ln/>
        </p:spPr>
        <p:txBody>
          <a:bodyPr wrap="square" lIns="0" tIns="0" rIns="0" bIns="0" rtlCol="0" anchor="t"/>
          <a:lstStyle/>
          <a:p>
            <a:pPr marL="0" indent="0">
              <a:buNone/>
            </a:pPr>
            <a:r>
              <a:rPr lang="en-US" sz="1600" dirty="0">
                <a:solidFill>
                  <a:schemeClr val="bg2"/>
                </a:solidFill>
              </a:rPr>
              <a:t>Si el stock llega a 0, el estado pasa a «Agotado» (decisión del equipo).</a:t>
            </a:r>
            <a:endParaRPr lang="en-US" sz="1600" dirty="0"/>
          </a:p>
        </p:txBody>
      </p:sp>
      <p:sp>
        <p:nvSpPr>
          <p:cNvPr id="8" name="Regla RN-01"/>
          <p:cNvSpPr/>
          <p:nvPr/>
        </p:nvSpPr>
        <p:spPr>
          <a:xfrm>
            <a:off x="5303520" y="1463040"/>
            <a:ext cx="6309360" cy="1417320"/>
          </a:xfrm>
          <a:prstGeom prst="roundRect">
            <a:avLst>
              <a:gd name="adj" fmla="val 7742"/>
            </a:avLst>
          </a:prstGeom>
          <a:solidFill>
            <a:schemeClr val="bg2"/>
          </a:solidFill>
          <a:ln w="12700">
            <a:solidFill>
              <a:schemeClr val="bg2"/>
            </a:solidFill>
            <a:prstDash val="solid"/>
          </a:ln>
        </p:spPr>
      </p:sp>
      <p:sp>
        <p:nvSpPr>
          <p:cNvPr id="9" name="Regla RN-01 círculo"/>
          <p:cNvSpPr/>
          <p:nvPr/>
        </p:nvSpPr>
        <p:spPr>
          <a:xfrm>
            <a:off x="5532120" y="1801368"/>
            <a:ext cx="731520" cy="731520"/>
          </a:xfrm>
          <a:prstGeom prst="ellipse">
            <a:avLst/>
          </a:prstGeom>
          <a:solidFill>
            <a:schemeClr val="accent1"/>
          </a:solidFill>
          <a:ln w="12700">
            <a:solidFill>
              <a:schemeClr val="accent1"/>
            </a:solidFill>
            <a:prstDash val="solid"/>
          </a:ln>
        </p:spPr>
      </p:sp>
      <p:pic>
        <p:nvPicPr>
          <p:cNvPr id="10" name="Regla RN-01 ícono" descr="Regla RN-01"/>
          <p:cNvPicPr>
            <a:picLocks noChangeAspect="1"/>
          </p:cNvPicPr>
          <p:nvPr/>
        </p:nvPicPr>
        <p:blipFill>
          <a:blip r:embed="rId3"/>
          <a:stretch>
            <a:fillRect/>
          </a:stretch>
        </p:blipFill>
        <p:spPr>
          <a:xfrm>
            <a:off x="5707685" y="1976933"/>
            <a:ext cx="380390" cy="380390"/>
          </a:xfrm>
          <a:prstGeom prst="rect">
            <a:avLst/>
          </a:prstGeom>
        </p:spPr>
      </p:pic>
      <p:sp>
        <p:nvSpPr>
          <p:cNvPr id="11" name="Text 8"/>
          <p:cNvSpPr txBox="1"/>
          <p:nvPr/>
        </p:nvSpPr>
        <p:spPr>
          <a:xfrm>
            <a:off x="6492240" y="1463040"/>
            <a:ext cx="4937760" cy="1417320"/>
          </a:xfrm>
          <a:prstGeom prst="rect">
            <a:avLst/>
          </a:prstGeom>
          <a:noFill/>
          <a:ln/>
        </p:spPr>
        <p:txBody>
          <a:bodyPr wrap="square" lIns="0" tIns="0" rIns="0" bIns="0" rtlCol="0" anchor="ctr"/>
          <a:lstStyle/>
          <a:p>
            <a:pPr marL="0" indent="0">
              <a:buNone/>
            </a:pPr>
            <a:r>
              <a:rPr lang="en-US" sz="2000" b="1" dirty="0">
                <a:solidFill>
                  <a:schemeClr val="tx2"/>
                </a:solidFill>
              </a:rPr>
              <a:t>RN-01 · Cantidad = ingresos − salidas</a:t>
            </a:r>
            <a:endParaRPr lang="en-US" sz="2000" dirty="0"/>
          </a:p>
          <a:p>
            <a:pPr marL="0" indent="0">
              <a:buNone/>
            </a:pPr>
            <a:r>
              <a:rPr lang="en-US" sz="1600" dirty="0">
                <a:solidFill>
                  <a:schemeClr val="tx1"/>
                </a:solidFill>
              </a:rPr>
              <a:t>Solo cambia con movimientos; el formulario de producto no la edita.</a:t>
            </a:r>
            <a:endParaRPr lang="en-US" sz="2000" dirty="0"/>
          </a:p>
        </p:txBody>
      </p:sp>
      <p:sp>
        <p:nvSpPr>
          <p:cNvPr id="12" name="Regla RN-03"/>
          <p:cNvSpPr/>
          <p:nvPr/>
        </p:nvSpPr>
        <p:spPr>
          <a:xfrm>
            <a:off x="5303520" y="3063240"/>
            <a:ext cx="6309360" cy="1417320"/>
          </a:xfrm>
          <a:prstGeom prst="roundRect">
            <a:avLst>
              <a:gd name="adj" fmla="val 7742"/>
            </a:avLst>
          </a:prstGeom>
          <a:solidFill>
            <a:schemeClr val="bg2"/>
          </a:solidFill>
          <a:ln w="12700">
            <a:solidFill>
              <a:schemeClr val="bg2"/>
            </a:solidFill>
            <a:prstDash val="solid"/>
          </a:ln>
        </p:spPr>
      </p:sp>
      <p:sp>
        <p:nvSpPr>
          <p:cNvPr id="13" name="Regla RN-03 círculo"/>
          <p:cNvSpPr/>
          <p:nvPr/>
        </p:nvSpPr>
        <p:spPr>
          <a:xfrm>
            <a:off x="5532120" y="3401568"/>
            <a:ext cx="731520" cy="731520"/>
          </a:xfrm>
          <a:prstGeom prst="ellipse">
            <a:avLst/>
          </a:prstGeom>
          <a:solidFill>
            <a:schemeClr val="accent1"/>
          </a:solidFill>
          <a:ln w="12700">
            <a:solidFill>
              <a:schemeClr val="accent1"/>
            </a:solidFill>
            <a:prstDash val="solid"/>
          </a:ln>
        </p:spPr>
      </p:sp>
      <p:pic>
        <p:nvPicPr>
          <p:cNvPr id="14" name="Regla RN-03 ícono" descr="Regla RN-03"/>
          <p:cNvPicPr>
            <a:picLocks noChangeAspect="1"/>
          </p:cNvPicPr>
          <p:nvPr/>
        </p:nvPicPr>
        <p:blipFill>
          <a:blip r:embed="rId4"/>
          <a:stretch>
            <a:fillRect/>
          </a:stretch>
        </p:blipFill>
        <p:spPr>
          <a:xfrm>
            <a:off x="5707685" y="3577133"/>
            <a:ext cx="380390" cy="380390"/>
          </a:xfrm>
          <a:prstGeom prst="rect">
            <a:avLst/>
          </a:prstGeom>
        </p:spPr>
      </p:pic>
      <p:sp>
        <p:nvSpPr>
          <p:cNvPr id="15" name="Text 11"/>
          <p:cNvSpPr txBox="1"/>
          <p:nvPr/>
        </p:nvSpPr>
        <p:spPr>
          <a:xfrm>
            <a:off x="6492240" y="3063240"/>
            <a:ext cx="4937760" cy="1417320"/>
          </a:xfrm>
          <a:prstGeom prst="rect">
            <a:avLst/>
          </a:prstGeom>
          <a:noFill/>
          <a:ln/>
        </p:spPr>
        <p:txBody>
          <a:bodyPr wrap="square" lIns="0" tIns="0" rIns="0" bIns="0" rtlCol="0" anchor="ctr"/>
          <a:lstStyle/>
          <a:p>
            <a:pPr marL="0" indent="0">
              <a:buNone/>
            </a:pPr>
            <a:r>
              <a:rPr lang="en-US" sz="2000" b="1" dirty="0">
                <a:solidFill>
                  <a:schemeClr val="tx2"/>
                </a:solidFill>
              </a:rPr>
              <a:t>RN-03 · Nunca negativa</a:t>
            </a:r>
            <a:endParaRPr lang="en-US" sz="2000" dirty="0"/>
          </a:p>
          <a:p>
            <a:pPr marL="0" indent="0">
              <a:buNone/>
            </a:pPr>
            <a:r>
              <a:rPr lang="en-US" sz="1600" dirty="0">
                <a:solidFill>
                  <a:schemeClr val="tx1"/>
                </a:solidFill>
              </a:rPr>
              <a:t>Se valida antes y se vuelve a comprobar al registrar.</a:t>
            </a:r>
            <a:endParaRPr lang="en-US" sz="2000" dirty="0"/>
          </a:p>
        </p:txBody>
      </p:sp>
      <p:sp>
        <p:nvSpPr>
          <p:cNvPr id="16" name="Regla RN-05"/>
          <p:cNvSpPr/>
          <p:nvPr/>
        </p:nvSpPr>
        <p:spPr>
          <a:xfrm>
            <a:off x="5303520" y="4663440"/>
            <a:ext cx="6309360" cy="1417320"/>
          </a:xfrm>
          <a:prstGeom prst="roundRect">
            <a:avLst>
              <a:gd name="adj" fmla="val 7742"/>
            </a:avLst>
          </a:prstGeom>
          <a:solidFill>
            <a:schemeClr val="bg2"/>
          </a:solidFill>
          <a:ln w="12700">
            <a:solidFill>
              <a:schemeClr val="bg2"/>
            </a:solidFill>
            <a:prstDash val="solid"/>
          </a:ln>
        </p:spPr>
      </p:sp>
      <p:sp>
        <p:nvSpPr>
          <p:cNvPr id="17" name="Regla RN-05 círculo"/>
          <p:cNvSpPr/>
          <p:nvPr/>
        </p:nvSpPr>
        <p:spPr>
          <a:xfrm>
            <a:off x="5532120" y="5001768"/>
            <a:ext cx="731520" cy="731520"/>
          </a:xfrm>
          <a:prstGeom prst="ellipse">
            <a:avLst/>
          </a:prstGeom>
          <a:solidFill>
            <a:schemeClr val="accent1"/>
          </a:solidFill>
          <a:ln w="12700">
            <a:solidFill>
              <a:schemeClr val="accent1"/>
            </a:solidFill>
            <a:prstDash val="solid"/>
          </a:ln>
        </p:spPr>
      </p:sp>
      <p:pic>
        <p:nvPicPr>
          <p:cNvPr id="18" name="Regla RN-05 ícono" descr="Regla RN-05"/>
          <p:cNvPicPr>
            <a:picLocks noChangeAspect="1"/>
          </p:cNvPicPr>
          <p:nvPr/>
        </p:nvPicPr>
        <p:blipFill>
          <a:blip r:embed="rId5"/>
          <a:stretch>
            <a:fillRect/>
          </a:stretch>
        </p:blipFill>
        <p:spPr>
          <a:xfrm>
            <a:off x="5707685" y="5177333"/>
            <a:ext cx="380390" cy="380390"/>
          </a:xfrm>
          <a:prstGeom prst="rect">
            <a:avLst/>
          </a:prstGeom>
        </p:spPr>
      </p:pic>
      <p:sp>
        <p:nvSpPr>
          <p:cNvPr id="19" name="Text 14"/>
          <p:cNvSpPr txBox="1"/>
          <p:nvPr/>
        </p:nvSpPr>
        <p:spPr>
          <a:xfrm>
            <a:off x="6492240" y="4663440"/>
            <a:ext cx="4937760" cy="1417320"/>
          </a:xfrm>
          <a:prstGeom prst="rect">
            <a:avLst/>
          </a:prstGeom>
          <a:noFill/>
          <a:ln/>
        </p:spPr>
        <p:txBody>
          <a:bodyPr wrap="square" lIns="0" tIns="0" rIns="0" bIns="0" rtlCol="0" anchor="ctr"/>
          <a:lstStyle/>
          <a:p>
            <a:pPr marL="0" indent="0">
              <a:buNone/>
            </a:pPr>
            <a:r>
              <a:rPr lang="en-US" sz="2000" b="1" dirty="0">
                <a:solidFill>
                  <a:schemeClr val="tx2"/>
                </a:solidFill>
              </a:rPr>
              <a:t>RN-05 · Responsable y fecha automáticos</a:t>
            </a:r>
            <a:endParaRPr lang="en-US" sz="2000" dirty="0"/>
          </a:p>
          <a:p>
            <a:pPr marL="0" indent="0">
              <a:buNone/>
            </a:pPr>
            <a:r>
              <a:rPr lang="en-US" sz="1600" dirty="0">
                <a:solidFill>
                  <a:schemeClr val="tx1"/>
                </a:solidFill>
              </a:rPr>
              <a:t>Si no hay sesión iniciada, no se registra nada.</a:t>
            </a:r>
            <a:endParaRPr lang="en-US" sz="2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Demo: cuatro casos para probar en vivo</a:t>
            </a:r>
            <a:endParaRPr lang="en-US" sz="3400" dirty="0"/>
          </a:p>
        </p:txBody>
      </p:sp>
      <p:sp>
        <p:nvSpPr>
          <p:cNvPr id="3" name="Caso 1"/>
          <p:cNvSpPr/>
          <p:nvPr/>
        </p:nvSpPr>
        <p:spPr>
          <a:xfrm>
            <a:off x="548640" y="1463040"/>
            <a:ext cx="5440680" cy="2194560"/>
          </a:xfrm>
          <a:prstGeom prst="roundRect">
            <a:avLst>
              <a:gd name="adj" fmla="val 5000"/>
            </a:avLst>
          </a:prstGeom>
          <a:solidFill>
            <a:schemeClr val="bg2"/>
          </a:solidFill>
          <a:ln w="12700">
            <a:solidFill>
              <a:schemeClr val="bg2"/>
            </a:solidFill>
            <a:prstDash val="solid"/>
          </a:ln>
        </p:spPr>
      </p:sp>
      <p:sp>
        <p:nvSpPr>
          <p:cNvPr id="4" name="Caso número 1"/>
          <p:cNvSpPr/>
          <p:nvPr/>
        </p:nvSpPr>
        <p:spPr>
          <a:xfrm>
            <a:off x="822960" y="1737360"/>
            <a:ext cx="548640" cy="548640"/>
          </a:xfrm>
          <a:prstGeom prst="ellipse">
            <a:avLst/>
          </a:prstGeom>
          <a:solidFill>
            <a:schemeClr val="accent5"/>
          </a:solidFill>
          <a:ln w="12700">
            <a:solidFill>
              <a:schemeClr val="accent5"/>
            </a:solidFill>
            <a:prstDash val="solid"/>
          </a:ln>
        </p:spPr>
      </p:sp>
      <p:sp>
        <p:nvSpPr>
          <p:cNvPr id="5" name="Text 3"/>
          <p:cNvSpPr txBox="1"/>
          <p:nvPr/>
        </p:nvSpPr>
        <p:spPr>
          <a:xfrm>
            <a:off x="822960" y="173736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6" name="Text 4"/>
          <p:cNvSpPr txBox="1"/>
          <p:nvPr/>
        </p:nvSpPr>
        <p:spPr>
          <a:xfrm>
            <a:off x="1600200" y="1737360"/>
            <a:ext cx="4114800" cy="548640"/>
          </a:xfrm>
          <a:prstGeom prst="rect">
            <a:avLst/>
          </a:prstGeom>
          <a:noFill/>
          <a:ln/>
        </p:spPr>
        <p:txBody>
          <a:bodyPr wrap="square" lIns="0" tIns="0" rIns="0" bIns="0" rtlCol="0" anchor="ctr"/>
          <a:lstStyle/>
          <a:p>
            <a:pPr marL="0" indent="0">
              <a:buNone/>
            </a:pPr>
            <a:r>
              <a:rPr lang="en-US" sz="2200" b="1" dirty="0">
                <a:solidFill>
                  <a:schemeClr val="tx2"/>
                </a:solidFill>
              </a:rPr>
              <a:t>Venta válida</a:t>
            </a:r>
            <a:endParaRPr lang="en-US" sz="2200" dirty="0"/>
          </a:p>
        </p:txBody>
      </p:sp>
      <p:sp>
        <p:nvSpPr>
          <p:cNvPr id="7" name="Text 5"/>
          <p:cNvSpPr txBox="1"/>
          <p:nvPr/>
        </p:nvSpPr>
        <p:spPr>
          <a:xfrm>
            <a:off x="822960" y="2468880"/>
            <a:ext cx="4892040" cy="1005840"/>
          </a:xfrm>
          <a:prstGeom prst="rect">
            <a:avLst/>
          </a:prstGeom>
          <a:noFill/>
          <a:ln/>
        </p:spPr>
        <p:txBody>
          <a:bodyPr wrap="square" lIns="0" tIns="0" rIns="0" bIns="0" rtlCol="0" anchor="t"/>
          <a:lstStyle/>
          <a:p>
            <a:pPr marL="0" indent="0">
              <a:spcAft>
                <a:spcPts val="600"/>
              </a:spcAft>
              <a:buNone/>
            </a:pPr>
            <a:r>
              <a:rPr lang="en-US" sz="1800" b="1" dirty="0">
                <a:solidFill>
                  <a:schemeClr val="tx1"/>
                </a:solidFill>
              </a:rPr>
              <a:t>Hago: </a:t>
            </a:r>
            <a:r>
              <a:rPr lang="en-US" sz="1800" dirty="0">
                <a:solidFill>
                  <a:schemeClr val="tx1"/>
                </a:solidFill>
              </a:rPr>
              <a:t>Gasa (40 u.) · Salida 5 · Venta</a:t>
            </a:r>
            <a:endParaRPr lang="en-US" sz="1800" dirty="0"/>
          </a:p>
          <a:p>
            <a:pPr marL="0" indent="0">
              <a:spcAft>
                <a:spcPts val="600"/>
              </a:spcAft>
              <a:buNone/>
            </a:pPr>
            <a:r>
              <a:rPr lang="en-US" sz="1800" b="1" dirty="0">
                <a:solidFill>
                  <a:schemeClr val="tx1"/>
                </a:solidFill>
              </a:rPr>
              <a:t>Veo: </a:t>
            </a:r>
            <a:r>
              <a:rPr lang="en-US" sz="1800" dirty="0">
                <a:solidFill>
                  <a:schemeClr val="tx1"/>
                </a:solidFill>
              </a:rPr>
              <a:t>Queda con 35 unidades</a:t>
            </a:r>
            <a:endParaRPr lang="en-US" sz="1800" dirty="0"/>
          </a:p>
        </p:txBody>
      </p:sp>
      <p:sp>
        <p:nvSpPr>
          <p:cNvPr id="8" name="Caso 2"/>
          <p:cNvSpPr/>
          <p:nvPr/>
        </p:nvSpPr>
        <p:spPr>
          <a:xfrm>
            <a:off x="6172200" y="1463040"/>
            <a:ext cx="5440680" cy="2194560"/>
          </a:xfrm>
          <a:prstGeom prst="roundRect">
            <a:avLst>
              <a:gd name="adj" fmla="val 5000"/>
            </a:avLst>
          </a:prstGeom>
          <a:solidFill>
            <a:schemeClr val="bg2"/>
          </a:solidFill>
          <a:ln w="12700">
            <a:solidFill>
              <a:schemeClr val="bg2"/>
            </a:solidFill>
            <a:prstDash val="solid"/>
          </a:ln>
        </p:spPr>
      </p:sp>
      <p:sp>
        <p:nvSpPr>
          <p:cNvPr id="9" name="Caso número 2"/>
          <p:cNvSpPr/>
          <p:nvPr/>
        </p:nvSpPr>
        <p:spPr>
          <a:xfrm>
            <a:off x="6446520" y="1737360"/>
            <a:ext cx="548640" cy="548640"/>
          </a:xfrm>
          <a:prstGeom prst="ellipse">
            <a:avLst/>
          </a:prstGeom>
          <a:solidFill>
            <a:schemeClr val="accent3"/>
          </a:solidFill>
          <a:ln w="12700">
            <a:solidFill>
              <a:schemeClr val="accent3"/>
            </a:solidFill>
            <a:prstDash val="solid"/>
          </a:ln>
        </p:spPr>
      </p:sp>
      <p:sp>
        <p:nvSpPr>
          <p:cNvPr id="10" name="Text 8"/>
          <p:cNvSpPr txBox="1"/>
          <p:nvPr/>
        </p:nvSpPr>
        <p:spPr>
          <a:xfrm>
            <a:off x="6446520" y="173736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1" name="Text 9"/>
          <p:cNvSpPr txBox="1"/>
          <p:nvPr/>
        </p:nvSpPr>
        <p:spPr>
          <a:xfrm>
            <a:off x="7223760" y="1737360"/>
            <a:ext cx="4114800" cy="548640"/>
          </a:xfrm>
          <a:prstGeom prst="rect">
            <a:avLst/>
          </a:prstGeom>
          <a:noFill/>
          <a:ln/>
        </p:spPr>
        <p:txBody>
          <a:bodyPr wrap="square" lIns="0" tIns="0" rIns="0" bIns="0" rtlCol="0" anchor="ctr"/>
          <a:lstStyle/>
          <a:p>
            <a:pPr marL="0" indent="0">
              <a:buNone/>
            </a:pPr>
            <a:r>
              <a:rPr lang="en-US" sz="2200" b="1" dirty="0">
                <a:solidFill>
                  <a:schemeClr val="tx2"/>
                </a:solidFill>
              </a:rPr>
              <a:t>Stock insuficiente</a:t>
            </a:r>
            <a:endParaRPr lang="en-US" sz="2200" dirty="0"/>
          </a:p>
        </p:txBody>
      </p:sp>
      <p:sp>
        <p:nvSpPr>
          <p:cNvPr id="12" name="Text 10"/>
          <p:cNvSpPr txBox="1"/>
          <p:nvPr/>
        </p:nvSpPr>
        <p:spPr>
          <a:xfrm>
            <a:off x="6446520" y="2468880"/>
            <a:ext cx="4892040" cy="1005840"/>
          </a:xfrm>
          <a:prstGeom prst="rect">
            <a:avLst/>
          </a:prstGeom>
          <a:noFill/>
          <a:ln/>
        </p:spPr>
        <p:txBody>
          <a:bodyPr wrap="square" lIns="0" tIns="0" rIns="0" bIns="0" rtlCol="0" anchor="t"/>
          <a:lstStyle/>
          <a:p>
            <a:pPr marL="0" indent="0">
              <a:spcAft>
                <a:spcPts val="600"/>
              </a:spcAft>
              <a:buNone/>
            </a:pPr>
            <a:r>
              <a:rPr lang="en-US" sz="1800" b="1" dirty="0">
                <a:solidFill>
                  <a:schemeClr val="tx1"/>
                </a:solidFill>
              </a:rPr>
              <a:t>Hago: </a:t>
            </a:r>
            <a:r>
              <a:rPr lang="en-US" sz="1800" dirty="0">
                <a:solidFill>
                  <a:schemeClr val="tx1"/>
                </a:solidFill>
              </a:rPr>
              <a:t>Mascarillas (3 u.) · Salida 5</a:t>
            </a:r>
            <a:endParaRPr lang="en-US" sz="1800" dirty="0"/>
          </a:p>
          <a:p>
            <a:pPr marL="0" indent="0">
              <a:spcAft>
                <a:spcPts val="600"/>
              </a:spcAft>
              <a:buNone/>
            </a:pPr>
            <a:r>
              <a:rPr lang="en-US" sz="1800" b="1" dirty="0">
                <a:solidFill>
                  <a:schemeClr val="tx1"/>
                </a:solidFill>
              </a:rPr>
              <a:t>Veo: </a:t>
            </a:r>
            <a:r>
              <a:rPr lang="en-US" sz="1800" dirty="0">
                <a:solidFill>
                  <a:schemeClr val="tx1"/>
                </a:solidFill>
              </a:rPr>
              <a:t>Error: «Solo hay 3 disponibles»</a:t>
            </a:r>
            <a:endParaRPr lang="en-US" sz="1800" dirty="0"/>
          </a:p>
        </p:txBody>
      </p:sp>
      <p:sp>
        <p:nvSpPr>
          <p:cNvPr id="13" name="Caso 3"/>
          <p:cNvSpPr/>
          <p:nvPr/>
        </p:nvSpPr>
        <p:spPr>
          <a:xfrm>
            <a:off x="548640" y="3886200"/>
            <a:ext cx="5440680" cy="2194560"/>
          </a:xfrm>
          <a:prstGeom prst="roundRect">
            <a:avLst>
              <a:gd name="adj" fmla="val 5000"/>
            </a:avLst>
          </a:prstGeom>
          <a:solidFill>
            <a:schemeClr val="bg2"/>
          </a:solidFill>
          <a:ln w="12700">
            <a:solidFill>
              <a:schemeClr val="bg2"/>
            </a:solidFill>
            <a:prstDash val="solid"/>
          </a:ln>
        </p:spPr>
      </p:sp>
      <p:sp>
        <p:nvSpPr>
          <p:cNvPr id="14" name="Caso número 3"/>
          <p:cNvSpPr/>
          <p:nvPr/>
        </p:nvSpPr>
        <p:spPr>
          <a:xfrm>
            <a:off x="822960" y="4160520"/>
            <a:ext cx="548640" cy="548640"/>
          </a:xfrm>
          <a:prstGeom prst="ellipse">
            <a:avLst/>
          </a:prstGeom>
          <a:solidFill>
            <a:schemeClr val="accent3"/>
          </a:solidFill>
          <a:ln w="12700">
            <a:solidFill>
              <a:schemeClr val="accent3"/>
            </a:solidFill>
            <a:prstDash val="solid"/>
          </a:ln>
        </p:spPr>
      </p:sp>
      <p:sp>
        <p:nvSpPr>
          <p:cNvPr id="15" name="Text 13"/>
          <p:cNvSpPr txBox="1"/>
          <p:nvPr/>
        </p:nvSpPr>
        <p:spPr>
          <a:xfrm>
            <a:off x="822960" y="416052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6" name="Text 14"/>
          <p:cNvSpPr txBox="1"/>
          <p:nvPr/>
        </p:nvSpPr>
        <p:spPr>
          <a:xfrm>
            <a:off x="1600200" y="4160520"/>
            <a:ext cx="4114800" cy="548640"/>
          </a:xfrm>
          <a:prstGeom prst="rect">
            <a:avLst/>
          </a:prstGeom>
          <a:noFill/>
          <a:ln/>
        </p:spPr>
        <p:txBody>
          <a:bodyPr wrap="square" lIns="0" tIns="0" rIns="0" bIns="0" rtlCol="0" anchor="ctr"/>
          <a:lstStyle/>
          <a:p>
            <a:pPr marL="0" indent="0">
              <a:buNone/>
            </a:pPr>
            <a:r>
              <a:rPr lang="en-US" sz="2200" b="1" dirty="0">
                <a:solidFill>
                  <a:schemeClr val="tx2"/>
                </a:solidFill>
              </a:rPr>
              <a:t>Salida sin motivo</a:t>
            </a:r>
            <a:endParaRPr lang="en-US" sz="2200" dirty="0"/>
          </a:p>
        </p:txBody>
      </p:sp>
      <p:sp>
        <p:nvSpPr>
          <p:cNvPr id="17" name="Text 15"/>
          <p:cNvSpPr txBox="1"/>
          <p:nvPr/>
        </p:nvSpPr>
        <p:spPr>
          <a:xfrm>
            <a:off x="822960" y="4892040"/>
            <a:ext cx="4892040" cy="1005840"/>
          </a:xfrm>
          <a:prstGeom prst="rect">
            <a:avLst/>
          </a:prstGeom>
          <a:noFill/>
          <a:ln/>
        </p:spPr>
        <p:txBody>
          <a:bodyPr wrap="square" lIns="0" tIns="0" rIns="0" bIns="0" rtlCol="0" anchor="t"/>
          <a:lstStyle/>
          <a:p>
            <a:pPr marL="0" indent="0">
              <a:spcAft>
                <a:spcPts val="600"/>
              </a:spcAft>
              <a:buNone/>
            </a:pPr>
            <a:r>
              <a:rPr lang="en-US" sz="1800" b="1" dirty="0">
                <a:solidFill>
                  <a:schemeClr val="tx1"/>
                </a:solidFill>
              </a:rPr>
              <a:t>Hago: </a:t>
            </a:r>
            <a:r>
              <a:rPr lang="en-US" sz="1800" dirty="0">
                <a:solidFill>
                  <a:schemeClr val="tx1"/>
                </a:solidFill>
              </a:rPr>
              <a:t>Cualquier producto · Salida sin elegir motivo</a:t>
            </a:r>
            <a:endParaRPr lang="en-US" sz="1800" dirty="0"/>
          </a:p>
          <a:p>
            <a:pPr marL="0" indent="0">
              <a:spcAft>
                <a:spcPts val="600"/>
              </a:spcAft>
              <a:buNone/>
            </a:pPr>
            <a:r>
              <a:rPr lang="en-US" sz="1800" b="1" dirty="0">
                <a:solidFill>
                  <a:schemeClr val="tx1"/>
                </a:solidFill>
              </a:rPr>
              <a:t>Veo: </a:t>
            </a:r>
            <a:r>
              <a:rPr lang="en-US" sz="1800" dirty="0">
                <a:solidFill>
                  <a:schemeClr val="tx1"/>
                </a:solidFill>
              </a:rPr>
              <a:t>Error: «Elige el motivo de la salida»</a:t>
            </a:r>
            <a:endParaRPr lang="en-US" sz="1800" dirty="0"/>
          </a:p>
        </p:txBody>
      </p:sp>
      <p:sp>
        <p:nvSpPr>
          <p:cNvPr id="18" name="Caso 4"/>
          <p:cNvSpPr/>
          <p:nvPr/>
        </p:nvSpPr>
        <p:spPr>
          <a:xfrm>
            <a:off x="6172200" y="3886200"/>
            <a:ext cx="5440680" cy="2194560"/>
          </a:xfrm>
          <a:prstGeom prst="roundRect">
            <a:avLst>
              <a:gd name="adj" fmla="val 5000"/>
            </a:avLst>
          </a:prstGeom>
          <a:solidFill>
            <a:schemeClr val="bg2"/>
          </a:solidFill>
          <a:ln w="12700">
            <a:solidFill>
              <a:schemeClr val="bg2"/>
            </a:solidFill>
            <a:prstDash val="solid"/>
          </a:ln>
        </p:spPr>
      </p:sp>
      <p:sp>
        <p:nvSpPr>
          <p:cNvPr id="19" name="Caso número 4"/>
          <p:cNvSpPr/>
          <p:nvPr/>
        </p:nvSpPr>
        <p:spPr>
          <a:xfrm>
            <a:off x="6446520" y="4160520"/>
            <a:ext cx="548640" cy="548640"/>
          </a:xfrm>
          <a:prstGeom prst="ellipse">
            <a:avLst/>
          </a:prstGeom>
          <a:solidFill>
            <a:schemeClr val="accent5"/>
          </a:solidFill>
          <a:ln w="12700">
            <a:solidFill>
              <a:schemeClr val="accent5"/>
            </a:solidFill>
            <a:prstDash val="solid"/>
          </a:ln>
        </p:spPr>
      </p:sp>
      <p:sp>
        <p:nvSpPr>
          <p:cNvPr id="20" name="Text 18"/>
          <p:cNvSpPr txBox="1"/>
          <p:nvPr/>
        </p:nvSpPr>
        <p:spPr>
          <a:xfrm>
            <a:off x="6446520" y="416052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21" name="Text 19"/>
          <p:cNvSpPr txBox="1"/>
          <p:nvPr/>
        </p:nvSpPr>
        <p:spPr>
          <a:xfrm>
            <a:off x="7223760" y="4160520"/>
            <a:ext cx="4114800" cy="548640"/>
          </a:xfrm>
          <a:prstGeom prst="rect">
            <a:avLst/>
          </a:prstGeom>
          <a:noFill/>
          <a:ln/>
        </p:spPr>
        <p:txBody>
          <a:bodyPr wrap="square" lIns="0" tIns="0" rIns="0" bIns="0" rtlCol="0" anchor="ctr"/>
          <a:lstStyle/>
          <a:p>
            <a:pPr marL="0" indent="0">
              <a:buNone/>
            </a:pPr>
            <a:r>
              <a:rPr lang="en-US" sz="2200" b="1" dirty="0">
                <a:solidFill>
                  <a:schemeClr val="tx2"/>
                </a:solidFill>
              </a:rPr>
              <a:t>Agotar un producto</a:t>
            </a:r>
            <a:endParaRPr lang="en-US" sz="2200" dirty="0"/>
          </a:p>
        </p:txBody>
      </p:sp>
      <p:sp>
        <p:nvSpPr>
          <p:cNvPr id="22" name="Text 20"/>
          <p:cNvSpPr txBox="1"/>
          <p:nvPr/>
        </p:nvSpPr>
        <p:spPr>
          <a:xfrm>
            <a:off x="6446520" y="4892040"/>
            <a:ext cx="4892040" cy="1005840"/>
          </a:xfrm>
          <a:prstGeom prst="rect">
            <a:avLst/>
          </a:prstGeom>
          <a:noFill/>
          <a:ln/>
        </p:spPr>
        <p:txBody>
          <a:bodyPr wrap="square" lIns="0" tIns="0" rIns="0" bIns="0" rtlCol="0" anchor="t"/>
          <a:lstStyle/>
          <a:p>
            <a:pPr marL="0" indent="0">
              <a:spcAft>
                <a:spcPts val="600"/>
              </a:spcAft>
              <a:buNone/>
            </a:pPr>
            <a:r>
              <a:rPr lang="en-US" sz="1800" b="1" dirty="0">
                <a:solidFill>
                  <a:schemeClr val="tx1"/>
                </a:solidFill>
              </a:rPr>
              <a:t>Hago: </a:t>
            </a:r>
            <a:r>
              <a:rPr lang="en-US" sz="1800" dirty="0">
                <a:solidFill>
                  <a:schemeClr val="tx1"/>
                </a:solidFill>
              </a:rPr>
              <a:t>Cuello ortopédico (4 u.) · Salida 4</a:t>
            </a:r>
            <a:endParaRPr lang="en-US" sz="1800" dirty="0"/>
          </a:p>
          <a:p>
            <a:pPr marL="0" indent="0">
              <a:spcAft>
                <a:spcPts val="600"/>
              </a:spcAft>
              <a:buNone/>
            </a:pPr>
            <a:r>
              <a:rPr lang="en-US" sz="1800" b="1" dirty="0">
                <a:solidFill>
                  <a:schemeClr val="tx1"/>
                </a:solidFill>
              </a:rPr>
              <a:t>Veo: </a:t>
            </a:r>
            <a:r>
              <a:rPr lang="en-US" sz="1800" dirty="0">
                <a:solidFill>
                  <a:schemeClr val="tx1"/>
                </a:solidFill>
              </a:rPr>
              <a:t>Queda en 0 y estado «Agotado»</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Estado del proyecto y próximos pasos</a:t>
            </a:r>
            <a:endParaRPr lang="en-US" sz="3400" dirty="0"/>
          </a:p>
        </p:txBody>
      </p:sp>
      <p:sp>
        <p:nvSpPr>
          <p:cNvPr id="3" name="Tarjeta hecho"/>
          <p:cNvSpPr/>
          <p:nvPr/>
        </p:nvSpPr>
        <p:spPr>
          <a:xfrm>
            <a:off x="548640" y="1463040"/>
            <a:ext cx="5394960" cy="3566160"/>
          </a:xfrm>
          <a:prstGeom prst="roundRect">
            <a:avLst>
              <a:gd name="adj" fmla="val 3077"/>
            </a:avLst>
          </a:prstGeom>
          <a:solidFill>
            <a:schemeClr val="bg2"/>
          </a:solidFill>
          <a:ln w="12700">
            <a:solidFill>
              <a:schemeClr val="bg2"/>
            </a:solidFill>
            <a:prstDash val="solid"/>
          </a:ln>
        </p:spPr>
      </p:sp>
      <p:sp>
        <p:nvSpPr>
          <p:cNvPr id="4" name="Tarjeta pendiente"/>
          <p:cNvSpPr/>
          <p:nvPr/>
        </p:nvSpPr>
        <p:spPr>
          <a:xfrm>
            <a:off x="6217920" y="1463040"/>
            <a:ext cx="5394960" cy="3566160"/>
          </a:xfrm>
          <a:prstGeom prst="roundRect">
            <a:avLst>
              <a:gd name="adj" fmla="val 3077"/>
            </a:avLst>
          </a:prstGeom>
          <a:solidFill>
            <a:schemeClr val="bg2"/>
          </a:solidFill>
          <a:ln w="12700">
            <a:solidFill>
              <a:schemeClr val="bg2"/>
            </a:solidFill>
            <a:prstDash val="solid"/>
          </a:ln>
        </p:spPr>
      </p:sp>
      <p:sp>
        <p:nvSpPr>
          <p:cNvPr id="5" name="Text 3"/>
          <p:cNvSpPr txBox="1"/>
          <p:nvPr/>
        </p:nvSpPr>
        <p:spPr>
          <a:xfrm>
            <a:off x="868680" y="1691640"/>
            <a:ext cx="4754880" cy="457200"/>
          </a:xfrm>
          <a:prstGeom prst="rect">
            <a:avLst/>
          </a:prstGeom>
          <a:noFill/>
          <a:ln/>
        </p:spPr>
        <p:txBody>
          <a:bodyPr wrap="square" lIns="0" tIns="0" rIns="0" bIns="0" rtlCol="0" anchor="ctr"/>
          <a:lstStyle/>
          <a:p>
            <a:pPr marL="0" indent="0">
              <a:buNone/>
            </a:pPr>
            <a:r>
              <a:rPr lang="en-US" sz="2200" b="1" dirty="0">
                <a:solidFill>
                  <a:schemeClr val="accent5"/>
                </a:solidFill>
              </a:rPr>
              <a:t>Listo</a:t>
            </a:r>
            <a:endParaRPr lang="en-US" sz="2200" dirty="0"/>
          </a:p>
        </p:txBody>
      </p:sp>
      <p:sp>
        <p:nvSpPr>
          <p:cNvPr id="6" name="Text 4"/>
          <p:cNvSpPr txBox="1"/>
          <p:nvPr/>
        </p:nvSpPr>
        <p:spPr>
          <a:xfrm>
            <a:off x="868680" y="2286000"/>
            <a:ext cx="4846320" cy="25603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Registro de ingresos y salidas (RF-04, RF-05)</a:t>
            </a:r>
            <a:endParaRPr lang="en-US" sz="1800" dirty="0"/>
          </a:p>
          <a:p>
            <a:pPr marL="342900" indent="-342900">
              <a:spcAft>
                <a:spcPts val="1000"/>
              </a:spcAft>
              <a:buSzPct val="100000"/>
              <a:buChar char="•"/>
            </a:pPr>
            <a:r>
              <a:rPr lang="en-US" sz="1800" dirty="0">
                <a:solidFill>
                  <a:schemeClr val="tx1"/>
                </a:solidFill>
              </a:rPr>
              <a:t>Responsable automático (RF-06)</a:t>
            </a:r>
            <a:endParaRPr lang="en-US" sz="1800" dirty="0"/>
          </a:p>
          <a:p>
            <a:pPr marL="342900" indent="-342900">
              <a:spcAft>
                <a:spcPts val="1000"/>
              </a:spcAft>
              <a:buSzPct val="100000"/>
              <a:buChar char="•"/>
            </a:pPr>
            <a:r>
              <a:rPr lang="en-US" sz="1800" dirty="0">
                <a:solidFill>
                  <a:schemeClr val="tx1"/>
                </a:solidFill>
              </a:rPr>
              <a:t>Stock automático (RF-07)</a:t>
            </a:r>
            <a:endParaRPr lang="en-US" sz="1800" dirty="0"/>
          </a:p>
          <a:p>
            <a:pPr marL="342900" indent="-342900">
              <a:spcAft>
                <a:spcPts val="1000"/>
              </a:spcAft>
              <a:buSzPct val="100000"/>
              <a:buChar char="•"/>
            </a:pPr>
            <a:r>
              <a:rPr lang="en-US" sz="1800" dirty="0">
                <a:solidFill>
                  <a:schemeClr val="tx1"/>
                </a:solidFill>
              </a:rPr>
              <a:t>Pantallas, navegación y estructura MVVM del proyecto base</a:t>
            </a:r>
            <a:endParaRPr lang="en-US" sz="1800" dirty="0"/>
          </a:p>
        </p:txBody>
      </p:sp>
      <p:sp>
        <p:nvSpPr>
          <p:cNvPr id="7" name="Text 5"/>
          <p:cNvSpPr txBox="1"/>
          <p:nvPr/>
        </p:nvSpPr>
        <p:spPr>
          <a:xfrm>
            <a:off x="6537960" y="1691640"/>
            <a:ext cx="4754880" cy="457200"/>
          </a:xfrm>
          <a:prstGeom prst="rect">
            <a:avLst/>
          </a:prstGeom>
          <a:noFill/>
          <a:ln/>
        </p:spPr>
        <p:txBody>
          <a:bodyPr wrap="square" lIns="0" tIns="0" rIns="0" bIns="0" rtlCol="0" anchor="ctr"/>
          <a:lstStyle/>
          <a:p>
            <a:pPr marL="0" indent="0">
              <a:buNone/>
            </a:pPr>
            <a:r>
              <a:rPr lang="en-US" sz="2200" b="1" dirty="0">
                <a:solidFill>
                  <a:schemeClr val="accent2"/>
                </a:solidFill>
              </a:rPr>
              <a:t>Por completar</a:t>
            </a:r>
            <a:endParaRPr lang="en-US" sz="2200" dirty="0"/>
          </a:p>
        </p:txBody>
      </p:sp>
      <p:sp>
        <p:nvSpPr>
          <p:cNvPr id="8" name="Text 6"/>
          <p:cNvSpPr txBox="1"/>
          <p:nvPr/>
        </p:nvSpPr>
        <p:spPr>
          <a:xfrm>
            <a:off x="6537960" y="2286000"/>
            <a:ext cx="4846320" cy="25603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Persistencia con Room y Repository</a:t>
            </a:r>
            <a:endParaRPr lang="en-US" sz="1800" dirty="0"/>
          </a:p>
          <a:p>
            <a:pPr marL="342900" indent="-342900">
              <a:spcAft>
                <a:spcPts val="1000"/>
              </a:spcAft>
              <a:buSzPct val="100000"/>
              <a:buChar char="•"/>
            </a:pPr>
            <a:r>
              <a:rPr lang="en-US" sz="1800" dirty="0">
                <a:solidFill>
                  <a:schemeClr val="tx1"/>
                </a:solidFill>
              </a:rPr>
              <a:t>Al menos un recurso nativo (cámara QR o notificaciones)</a:t>
            </a:r>
            <a:endParaRPr lang="en-US" sz="1800" dirty="0"/>
          </a:p>
          <a:p>
            <a:pPr marL="342900" indent="-342900">
              <a:spcAft>
                <a:spcPts val="1000"/>
              </a:spcAft>
              <a:buSzPct val="100000"/>
              <a:buChar char="•"/>
            </a:pPr>
            <a:r>
              <a:rPr lang="en-US" sz="1800" dirty="0">
                <a:solidFill>
                  <a:schemeClr val="tx1"/>
                </a:solidFill>
              </a:rPr>
              <a:t>Animaciones y login real</a:t>
            </a:r>
            <a:endParaRPr lang="en-US" sz="1800" dirty="0"/>
          </a:p>
          <a:p>
            <a:pPr marL="342900" indent="-342900">
              <a:spcAft>
                <a:spcPts val="1000"/>
              </a:spcAft>
              <a:buSzPct val="100000"/>
              <a:buChar char="•"/>
            </a:pPr>
            <a:r>
              <a:rPr lang="en-US" sz="1800" dirty="0">
                <a:solidFill>
                  <a:schemeClr val="tx1"/>
                </a:solidFill>
              </a:rPr>
              <a:t>Resto de requerimientos: RF-01 a RF-03 y RF-08 a RF-10</a:t>
            </a:r>
            <a:endParaRPr lang="en-US" sz="1800" dirty="0"/>
          </a:p>
          <a:p>
            <a:pPr marL="342900" indent="-342900">
              <a:spcAft>
                <a:spcPts val="1000"/>
              </a:spcAft>
              <a:buSzPct val="100000"/>
              <a:buChar char="•"/>
            </a:pPr>
            <a:r>
              <a:rPr lang="en-US" sz="1800" dirty="0">
                <a:solidFill>
                  <a:schemeClr val="tx1"/>
                </a:solidFill>
              </a:rPr>
              <a:t>README, repositorio y tablero Trello</a:t>
            </a:r>
            <a:endParaRPr lang="en-US" sz="1800" dirty="0"/>
          </a:p>
        </p:txBody>
      </p:sp>
      <p:sp>
        <p:nvSpPr>
          <p:cNvPr id="9" name="Supuestos fondo"/>
          <p:cNvSpPr/>
          <p:nvPr/>
        </p:nvSpPr>
        <p:spPr>
          <a:xfrm>
            <a:off x="548640" y="5303520"/>
            <a:ext cx="11064240" cy="822960"/>
          </a:xfrm>
          <a:prstGeom prst="roundRect">
            <a:avLst>
              <a:gd name="adj" fmla="val 13333"/>
            </a:avLst>
          </a:prstGeom>
          <a:solidFill>
            <a:schemeClr val="tx2"/>
          </a:solidFill>
          <a:ln w="12700">
            <a:solidFill>
              <a:schemeClr val="tx2"/>
            </a:solidFill>
            <a:prstDash val="solid"/>
          </a:ln>
        </p:spPr>
      </p:sp>
      <p:sp>
        <p:nvSpPr>
          <p:cNvPr id="10" name="Text 8"/>
          <p:cNvSpPr txBox="1"/>
          <p:nvPr/>
        </p:nvSpPr>
        <p:spPr>
          <a:xfrm>
            <a:off x="868680" y="5303520"/>
            <a:ext cx="10424160" cy="822960"/>
          </a:xfrm>
          <a:prstGeom prst="rect">
            <a:avLst/>
          </a:prstGeom>
          <a:noFill/>
          <a:ln/>
        </p:spPr>
        <p:txBody>
          <a:bodyPr wrap="square" lIns="0" tIns="0" rIns="0" bIns="0" rtlCol="0" anchor="ctr"/>
          <a:lstStyle/>
          <a:p>
            <a:pPr marL="0" indent="0">
              <a:buNone/>
            </a:pPr>
            <a:r>
              <a:rPr lang="en-US" sz="1600" b="1" dirty="0">
                <a:solidFill>
                  <a:schemeClr val="bg1"/>
                </a:solidFill>
              </a:rPr>
              <a:t>Supuestos a confirmar con el CITT: motivos de salida, estados del producto y permisos del Usuario autorizado.</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731520" y="1554480"/>
            <a:ext cx="6766560" cy="1737360"/>
          </a:xfrm>
          <a:prstGeom prst="rect">
            <a:avLst/>
          </a:prstGeom>
          <a:noFill/>
          <a:ln/>
        </p:spPr>
        <p:txBody>
          <a:bodyPr wrap="square" lIns="0" tIns="0" rIns="0" bIns="0" rtlCol="0" anchor="b"/>
          <a:lstStyle/>
          <a:p>
            <a:pPr marL="0" indent="0" algn="l">
              <a:buNone/>
            </a:pPr>
            <a:r>
              <a:rPr lang="en-US" sz="4800" b="1" dirty="0">
                <a:solidFill>
                  <a:schemeClr val="bg1"/>
                </a:solidFill>
              </a:rPr>
              <a:t>Gracias</a:t>
            </a:r>
            <a:endParaRPr lang="en-US" sz="4800" dirty="0"/>
          </a:p>
        </p:txBody>
      </p:sp>
      <p:sp>
        <p:nvSpPr>
          <p:cNvPr id="3" name="Text 1"/>
          <p:cNvSpPr>
            <a:spLocks noGrp="1"/>
          </p:cNvSpPr>
          <p:nvPr>
            <p:ph type="body" idx="102" hasCustomPrompt="1"/>
          </p:nvPr>
        </p:nvSpPr>
        <p:spPr>
          <a:xfrm>
            <a:off x="731520" y="3520440"/>
            <a:ext cx="6766560" cy="2377440"/>
          </a:xfrm>
          <a:prstGeom prst="rect">
            <a:avLst/>
          </a:prstGeom>
          <a:noFill/>
          <a:ln/>
        </p:spPr>
        <p:txBody>
          <a:bodyPr wrap="square" lIns="0" tIns="0" rIns="0" bIns="0" rtlCol="0" anchor="t"/>
          <a:lstStyle/>
          <a:p>
            <a:pPr marL="0" indent="0">
              <a:buNone/>
            </a:pPr>
            <a:r>
              <a:rPr lang="en-US" sz="1800" b="1" dirty="0">
                <a:solidFill>
                  <a:schemeClr val="bg2"/>
                </a:solidFill>
              </a:rPr>
              <a:t>¿Preguntas?</a:t>
            </a:r>
            <a:endParaRPr lang="en-US" sz="1800" dirty="0"/>
          </a:p>
          <a:p>
            <a:pPr marL="0" indent="0">
              <a:buNone/>
            </a:pPr>
            <a:r>
              <a:rPr lang="en-US" sz="1400" dirty="0">
                <a:solidFill>
                  <a:schemeClr val="bg2"/>
                </a:solidFill>
              </a:rPr>
              <a:t>Cappucare Stock · Control inteligente y oportuno de existencias</a:t>
            </a:r>
            <a:endParaRPr lang="en-US" sz="1800" dirty="0"/>
          </a:p>
        </p:txBody>
      </p:sp>
      <p:sp>
        <p:nvSpPr>
          <p:cNvPr id="4" name="Cierre círculo"/>
          <p:cNvSpPr/>
          <p:nvPr/>
        </p:nvSpPr>
        <p:spPr>
          <a:xfrm>
            <a:off x="8412480" y="1737360"/>
            <a:ext cx="3108960" cy="3108960"/>
          </a:xfrm>
          <a:prstGeom prst="ellipse">
            <a:avLst/>
          </a:prstGeom>
          <a:solidFill>
            <a:schemeClr val="accent1"/>
          </a:solidFill>
          <a:ln w="12700">
            <a:solidFill>
              <a:schemeClr val="accent1"/>
            </a:solidFill>
            <a:prstDash val="solid"/>
          </a:ln>
        </p:spPr>
      </p:sp>
      <p:pic>
        <p:nvPicPr>
          <p:cNvPr id="5" name="Cierre ícono" descr="Teléfono móvil"/>
          <p:cNvPicPr>
            <a:picLocks noChangeAspect="1"/>
          </p:cNvPicPr>
          <p:nvPr/>
        </p:nvPicPr>
        <p:blipFill>
          <a:blip r:embed="rId3"/>
          <a:stretch>
            <a:fillRect/>
          </a:stretch>
        </p:blipFill>
        <p:spPr>
          <a:xfrm>
            <a:off x="9326880" y="2514600"/>
            <a:ext cx="1280160" cy="1554480"/>
          </a:xfrm>
          <a:prstGeom prst="rect">
            <a:avLst/>
          </a:prstGeom>
        </p:spPr>
      </p:pic>
    </p:spTree>
  </p:cSld>
  <p:clrMapOvr>
    <a:masterClrMapping/>
  </p:clrMapOvr>
</p:sld>
</file>

<file path=ppt/theme/theme1.xml><?xml version="1.0" encoding="utf-8"?>
<a:theme xmlns:a="http://schemas.openxmlformats.org/drawingml/2006/main" name="Cappucare">
  <a:themeElements>
    <a:clrScheme name="Cappucare">
      <a:dk1>
        <a:srgbClr val="1B2B2E"/>
      </a:dk1>
      <a:lt1>
        <a:srgbClr val="FFFFFF"/>
      </a:lt1>
      <a:dk2>
        <a:srgbClr val="0F3D3E"/>
      </a:dk2>
      <a:lt2>
        <a:srgbClr val="EAF5F3"/>
      </a:lt2>
      <a:accent1>
        <a:srgbClr val="0E7C7B"/>
      </a:accent1>
      <a:accent2>
        <a:srgbClr val="E8962E"/>
      </a:accent2>
      <a:accent3>
        <a:srgbClr val="C0392B"/>
      </a:accent3>
      <a:accent4>
        <a:srgbClr val="2F7FA3"/>
      </a:accent4>
      <a:accent5>
        <a:srgbClr val="3F8F5B"/>
      </a:accent5>
      <a:accent6>
        <a:srgbClr val="5A666D"/>
      </a:accent6>
      <a:hlink>
        <a:srgbClr val="0E7C7B"/>
      </a:hlink>
      <a:folHlink>
        <a:srgbClr val="5A666D"/>
      </a:folHlink>
    </a:clrScheme>
    <a:fontScheme name="Cappuca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1517</Words>
  <Application>Microsoft Office PowerPoint</Application>
  <PresentationFormat>Panorámica</PresentationFormat>
  <Paragraphs>180</Paragraphs>
  <Slides>11</Slides>
  <Notes>11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Calibri</vt:lpstr>
      <vt:lpstr>Cambria</vt:lpstr>
      <vt:lpstr>Cappucare</vt:lpstr>
      <vt:lpstr>Cappucare Stock</vt:lpstr>
      <vt:lpstr>El problema: el stock registrado no coincide con el real</vt:lpstr>
      <vt:lpstr>Alcance del MVP: qué incluye y qué no</vt:lpstr>
      <vt:lpstr>Dos perfiles de usuario con permisos distintos</vt:lpstr>
      <vt:lpstr>Arquitectura MVVM: cada capa tiene un trabajo</vt:lpstr>
      <vt:lpstr>RF-05: registrar una salida o venta, paso a paso</vt:lpstr>
      <vt:lpstr>Validaciones del formulario de movimiento</vt:lpstr>
      <vt:lpstr>El stock se actualiza solo y nunca queda negativo</vt:lpstr>
      <vt:lpstr>Demo: cuatro casos para probar en vivo</vt:lpstr>
      <vt:lpstr>Estado del proyecto y próximos pasos</vt:lpstr>
      <vt:lpstr>Gracias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Cappucare Stock — Defensa Evaluación Parcial 2</dc:title>
  <dc:subject>PptxGenJS Presentation</dc:subject>
  <dc:creator>Absalom Abarca</dc:creator>
  <cp:lastModifiedBy>ABSALOM MOISES ABARCA VENEGAS</cp:lastModifiedBy>
  <cp:revision>3</cp:revision>
  <dcterms:created xsi:type="dcterms:W3CDTF">2026-10-28T03:17:59Z</dcterms:created>
  <dcterms:modified xsi:type="dcterms:W3CDTF">2026-10-28T03:59:15Z</dcterms:modified>
</cp:coreProperties>
</file>